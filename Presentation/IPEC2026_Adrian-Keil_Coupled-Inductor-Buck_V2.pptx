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63" r:id="rId5"/>
    <p:sldId id="259" r:id="rId6"/>
    <p:sldId id="265" r:id="rId7"/>
    <p:sldId id="278" r:id="rId8"/>
    <p:sldId id="266" r:id="rId9"/>
    <p:sldId id="268" r:id="rId10"/>
    <p:sldId id="269" r:id="rId11"/>
    <p:sldId id="272" r:id="rId12"/>
    <p:sldId id="270" r:id="rId13"/>
    <p:sldId id="271" r:id="rId14"/>
    <p:sldId id="273" r:id="rId15"/>
    <p:sldId id="274" r:id="rId16"/>
    <p:sldId id="277" r:id="rId17"/>
    <p:sldId id="275" r:id="rId18"/>
    <p:sldId id="264" r:id="rId19"/>
    <p:sldId id="280" r:id="rId20"/>
    <p:sldId id="267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B2F6B"/>
    <a:srgbClr val="B4016D"/>
    <a:srgbClr val="018186"/>
    <a:srgbClr val="F7F2F6"/>
    <a:srgbClr val="3B2D5B"/>
    <a:srgbClr val="463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87" autoAdjust="0"/>
  </p:normalViewPr>
  <p:slideViewPr>
    <p:cSldViewPr snapToGrid="0">
      <p:cViewPr varScale="1">
        <p:scale>
          <a:sx n="69" d="100"/>
          <a:sy n="69" d="100"/>
        </p:scale>
        <p:origin x="5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2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DA7B674-829D-5E3E-5E55-4F6028BD80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553147-6106-9DF7-A89C-C4F37D7198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22D0C-4305-4EB4-8F9D-A1F5B6D5669E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280326B-A555-930F-C6C3-1B638CC5F9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DE93BD-17F0-B070-9C6D-2C95F2D640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C13BD-A283-4F24-82B0-FF93D28254CB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162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20564-871F-42D7-B1EB-0FE4A3453F09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0D072-8C9A-46ED-8AC9-2F73DDBD7B4B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15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Positive Coupling is beneficial in most cases as it reduces AC flux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Negative coupling when DC-flux matters (high-frequency materials).</a:t>
            </a:r>
            <a:br>
              <a:rPr lang="en-US" sz="2200" dirty="0"/>
            </a:br>
            <a:r>
              <a:rPr lang="en-US" sz="2200" dirty="0"/>
              <a:t>Reduces core size by 50% in this case.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0D072-8C9A-46ED-8AC9-2F73DDBD7B4B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54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27792-A167-4DE2-B7AD-7C792791E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AA6B0B-534A-A28B-DE32-2BAFCDDF6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B77C4B-AC43-06F3-06E8-48A44546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40D4-8790-49FE-AB51-B1B165B3394C}" type="datetime1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2DD546-1E0F-3DE5-2028-39048EAA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FE1015-4E76-D26F-B0DC-2CEFF732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632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63708C-9B14-A520-9B09-3D609667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906370-1DCA-A858-6E97-F7823FA90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D48459-506C-D406-BFB0-B672260C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FD3B-2CA3-4451-B874-08C10EA81DC5}" type="datetime1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1138E7-C60C-E241-02B4-28E0CB5B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DA1E59-CC0F-FAED-16D6-41A12D68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30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1F80A74F-9E56-A4B8-616D-4E634FDDFA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23"/>
            <a:ext cx="12191999" cy="686164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ED23E45-2378-6FE2-2400-8474A8B330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345" y="2282124"/>
            <a:ext cx="6392289" cy="1968285"/>
          </a:xfrm>
        </p:spPr>
        <p:txBody>
          <a:bodyPr anchor="t"/>
          <a:lstStyle>
            <a:lvl1pPr>
              <a:defRPr sz="4800" b="1">
                <a:solidFill>
                  <a:srgbClr val="2B2F6B"/>
                </a:solidFill>
              </a:defRPr>
            </a:lvl1pPr>
          </a:lstStyle>
          <a:p>
            <a:r>
              <a:rPr kumimoji="1" lang="en-US" altLang="ja-JP" dirty="0"/>
              <a:t>Title of Your Presentation Goes Here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3CC5A1-852F-4BB3-5A7B-F81A1487C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345" y="4568125"/>
            <a:ext cx="5102055" cy="1071482"/>
          </a:xfrm>
        </p:spPr>
        <p:txBody>
          <a:bodyPr/>
          <a:lstStyle>
            <a:lvl1pPr marL="0" indent="0">
              <a:buNone/>
              <a:defRPr sz="2400">
                <a:solidFill>
                  <a:srgbClr val="2B2F6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7" name="Picture 4" descr="10th Anniversary Logo">
            <a:extLst>
              <a:ext uri="{FF2B5EF4-FFF2-40B4-BE49-F238E27FC236}">
                <a16:creationId xmlns:a16="http://schemas.microsoft.com/office/drawing/2014/main" id="{409F4699-E313-504A-B0F0-642FE63CA42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" t="1300" r="7931" b="1416"/>
          <a:stretch>
            <a:fillRect/>
          </a:stretch>
        </p:blipFill>
        <p:spPr bwMode="auto">
          <a:xfrm>
            <a:off x="5900978" y="693549"/>
            <a:ext cx="1091951" cy="12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52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1A8E68-445C-676E-0788-A67A6F62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143205-8E5B-1CE1-7A18-6674EB534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3FAE48-7D42-6EF8-D671-2D256EB14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BA9D83-5C73-5BFF-74CA-620300B4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FBE-901A-499E-AFE3-5CF920C37FE6}" type="datetime1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5CFE00-19B6-4ED3-D97F-17D55740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CB1C0C-57D1-9BFA-B2BA-1EF27F09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15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FDADB2-32DE-70E3-8155-1BA398E4C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827DDA-1FAA-B404-B042-7CF51E06B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998850-6977-76BB-13CE-B11F37CFF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855C92B-F484-AA52-DCC5-4B61F5DE6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BA998F2-3FF0-EA88-1CCD-339041831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BBFB577-EF5D-D905-DB37-9F3E3508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0E74-D8CA-46B9-B81B-D1A64625D11C}" type="datetime1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9E50D6F-C137-69D1-9EE7-74521689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2F00BF-9C91-6567-A66C-0617BD76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8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272F94-A6F9-CD9E-CA74-E61DABE8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0515600" cy="600560"/>
          </a:xfrm>
        </p:spPr>
        <p:txBody>
          <a:bodyPr/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96C3EB-AF6C-84F3-F537-CCEF25CF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2542" y="6281648"/>
            <a:ext cx="4114800" cy="365125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02EB09-6C90-B546-0D3C-6E3AD64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245" y="635384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B4016D"/>
                </a:solidFill>
                <a:latin typeface="+mj-lt"/>
              </a:defRPr>
            </a:lvl1pPr>
          </a:lstStyle>
          <a:p>
            <a:fld id="{47DBA9C9-B8E3-4631-BB24-23AC53088C8C}" type="slidenum">
              <a:rPr lang="ja-JP" altLang="en-US" smtClean="0"/>
              <a:pPr/>
              <a:t>‹Nr.›</a:t>
            </a:fld>
            <a:endParaRPr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736EAB7-F0F3-A1E5-D364-003597213D2E}"/>
              </a:ext>
            </a:extLst>
          </p:cNvPr>
          <p:cNvSpPr/>
          <p:nvPr userDrawn="1"/>
        </p:nvSpPr>
        <p:spPr>
          <a:xfrm>
            <a:off x="0" y="435180"/>
            <a:ext cx="313841" cy="447908"/>
          </a:xfrm>
          <a:prstGeom prst="rect">
            <a:avLst/>
          </a:prstGeom>
          <a:solidFill>
            <a:srgbClr val="B401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F8E1787-A20F-75C9-334E-11ADB4C19EE7}"/>
              </a:ext>
            </a:extLst>
          </p:cNvPr>
          <p:cNvGrpSpPr/>
          <p:nvPr userDrawn="1"/>
        </p:nvGrpSpPr>
        <p:grpSpPr>
          <a:xfrm>
            <a:off x="202242" y="6281648"/>
            <a:ext cx="1925553" cy="365125"/>
            <a:chOff x="1013012" y="3181194"/>
            <a:chExt cx="9544050" cy="1809750"/>
          </a:xfrm>
        </p:grpSpPr>
        <p:pic>
          <p:nvPicPr>
            <p:cNvPr id="11" name="Picture 2" descr="IPEC 2026 Logo">
              <a:extLst>
                <a:ext uri="{FF2B5EF4-FFF2-40B4-BE49-F238E27FC236}">
                  <a16:creationId xmlns:a16="http://schemas.microsoft.com/office/drawing/2014/main" id="{3976AB4E-FAF3-581D-6BBC-1CA0E7F209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012" y="3181194"/>
              <a:ext cx="782955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10th Anniversary Logo">
              <a:extLst>
                <a:ext uri="{FF2B5EF4-FFF2-40B4-BE49-F238E27FC236}">
                  <a16:creationId xmlns:a16="http://schemas.microsoft.com/office/drawing/2014/main" id="{77FDD4ED-FA1C-7B98-A499-D3D42DA7FD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2562" y="3181194"/>
              <a:ext cx="171450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9366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76A552CC-4524-FD03-D22B-4BBDB446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2542" y="6281648"/>
            <a:ext cx="4114800" cy="365125"/>
          </a:xfrm>
        </p:spPr>
        <p:txBody>
          <a:bodyPr/>
          <a:lstStyle/>
          <a:p>
            <a:endParaRPr kumimoji="1" lang="ja-JP" altLang="en-US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93CBCB6-1176-EDB7-7EBC-A19CFB9F9C0F}"/>
              </a:ext>
            </a:extLst>
          </p:cNvPr>
          <p:cNvGrpSpPr/>
          <p:nvPr userDrawn="1"/>
        </p:nvGrpSpPr>
        <p:grpSpPr>
          <a:xfrm>
            <a:off x="202242" y="6281648"/>
            <a:ext cx="1925553" cy="365125"/>
            <a:chOff x="1013012" y="3181194"/>
            <a:chExt cx="9544050" cy="1809750"/>
          </a:xfrm>
        </p:grpSpPr>
        <p:pic>
          <p:nvPicPr>
            <p:cNvPr id="8" name="Picture 2" descr="IPEC 2026 Logo">
              <a:extLst>
                <a:ext uri="{FF2B5EF4-FFF2-40B4-BE49-F238E27FC236}">
                  <a16:creationId xmlns:a16="http://schemas.microsoft.com/office/drawing/2014/main" id="{A873830A-42EF-D536-E7B0-90DC158A51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012" y="3181194"/>
              <a:ext cx="782955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10th Anniversary Logo">
              <a:extLst>
                <a:ext uri="{FF2B5EF4-FFF2-40B4-BE49-F238E27FC236}">
                  <a16:creationId xmlns:a16="http://schemas.microsoft.com/office/drawing/2014/main" id="{B90FBAB4-E2CC-81F8-F2D8-0AC0E8DEF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2562" y="3181194"/>
              <a:ext cx="171450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スライド番号プレースホルダー 4">
            <a:extLst>
              <a:ext uri="{FF2B5EF4-FFF2-40B4-BE49-F238E27FC236}">
                <a16:creationId xmlns:a16="http://schemas.microsoft.com/office/drawing/2014/main" id="{16D44B76-7022-76C3-9F85-3CAC33EE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245" y="635384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B4016D"/>
                </a:solidFill>
                <a:latin typeface="+mj-lt"/>
              </a:defRPr>
            </a:lvl1pPr>
          </a:lstStyle>
          <a:p>
            <a:fld id="{47DBA9C9-B8E3-4631-BB24-23AC53088C8C}" type="slidenum">
              <a:rPr lang="ja-JP" altLang="en-US" smtClean="0"/>
              <a:pPr/>
              <a:t>‹Nr.›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0337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0D703C1-DCF0-0357-9BFE-03EA34D21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23"/>
            <a:ext cx="12191999" cy="6861645"/>
          </a:xfrm>
          <a:prstGeom prst="rect">
            <a:avLst/>
          </a:prstGeom>
        </p:spPr>
      </p:pic>
      <p:pic>
        <p:nvPicPr>
          <p:cNvPr id="6" name="Picture 4" descr="10th Anniversary Logo">
            <a:extLst>
              <a:ext uri="{FF2B5EF4-FFF2-40B4-BE49-F238E27FC236}">
                <a16:creationId xmlns:a16="http://schemas.microsoft.com/office/drawing/2014/main" id="{696DE1A0-BD04-EF14-5D5F-1F5D36B6B48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" t="1300" r="7931" b="1416"/>
          <a:stretch>
            <a:fillRect/>
          </a:stretch>
        </p:blipFill>
        <p:spPr bwMode="auto">
          <a:xfrm>
            <a:off x="5900978" y="693549"/>
            <a:ext cx="1091951" cy="12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02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244D71-586C-2DF1-35F0-2174521B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FBA859-F249-0F24-34C1-D736AD1E0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F7CCC5-7B97-827F-E2D2-79BD7E393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C39EEF-C003-5833-00DD-E594E1E2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090-343E-4158-8560-5D967B66E1BF}" type="datetime1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1A9774-72BB-77F7-5184-4630B6BA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35BB99-1432-140B-2B99-71808DAB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77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973C6E-FACF-5488-E2CD-FCA15241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A45E426-CE63-E014-84F0-68B46C8CF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C1E21C-5426-E40F-8C82-1DC0B4AA1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382A48-A56C-FAFE-251D-146A278B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2956-8D4A-4085-889E-1DC3A25FA39C}" type="datetime1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5D8270-C2EA-9E75-7463-C352BA58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225A4B-3FD2-6D24-66A7-58796110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971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AF1A47-0B28-27D8-F7AD-F6BBC0B7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B618CC-AA0D-F7DA-4D09-ED409289B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902ECF-E508-08BD-C1AE-E1C564A8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7DDF-EC68-4161-8460-CC3CA6C2848A}" type="datetime1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ADF3EC-591B-7C30-FFFF-E8824C0F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1A7748-74E7-A752-F202-5D5E8838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207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6EB940-439A-F227-D7FC-C9602E9C5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800848-0BAD-78CF-58A9-7085170B7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0CA83E-65B9-6694-B114-536D76D3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224-8EFB-4775-AACF-E33B86388128}" type="datetime1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4DB897-68D7-B07E-49A3-CB5ECA29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644238-E347-1749-CCA2-5A9AFE77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04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33C76C2-AD50-A0FA-2EFC-47EEE59A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BC257B-CE9E-61E7-4C58-4EC0812F0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B29047-4BF4-F046-BEC8-665895935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E794A-3187-4F22-A74A-DF11C0E4637C}" type="datetime1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DE712C-8BC9-1BBA-E129-7126AF124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46F263-EFA6-4C4D-EB21-F71DA2044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57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pc-co.com/epc/products/evaluation-boards/epc9174" TargetMode="Externa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emf"/><Relationship Id="rId4" Type="http://schemas.openxmlformats.org/officeDocument/2006/relationships/hyperlink" Target="https://epc-co.com/epc/products/evaluation-boards/epc914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2.png"/><Relationship Id="rId7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jp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B81CC1-E2CC-40AB-2683-2E5A7CFD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44" y="2639632"/>
            <a:ext cx="10904141" cy="1583664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effectLst>
                  <a:glow rad="279400">
                    <a:srgbClr val="F7F2F6">
                      <a:alpha val="90000"/>
                    </a:srgbClr>
                  </a:glow>
                </a:effectLst>
              </a:rPr>
              <a:t>Compact Single-Turn Coupled Inductor for MHz-Range Buck Converters with Zero-Voltage Switching</a:t>
            </a:r>
            <a:endParaRPr kumimoji="1" lang="ja-JP" altLang="en-US" dirty="0">
              <a:effectLst>
                <a:glow rad="279400">
                  <a:srgbClr val="F7F2F6">
                    <a:alpha val="90000"/>
                  </a:srgbClr>
                </a:glow>
              </a:effectLst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3E8FF0-A431-66D6-37E4-F14E8A70B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345" y="4684749"/>
            <a:ext cx="7638426" cy="75755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ja-JP" b="1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Adrian Keil</a:t>
            </a:r>
            <a:r>
              <a:rPr kumimoji="1" lang="en-US" altLang="ja-JP" baseline="30000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1</a:t>
            </a:r>
            <a:r>
              <a:rPr kumimoji="1" lang="en-US" altLang="ja-JP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, Gean Maia de Sousa</a:t>
            </a:r>
            <a:r>
              <a:rPr lang="en-US" altLang="ja-JP" baseline="30000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2</a:t>
            </a:r>
            <a:r>
              <a:rPr kumimoji="1" lang="en-US" altLang="ja-JP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, Vincent Lorentz³, Thomas Heckel</a:t>
            </a:r>
            <a:r>
              <a:rPr lang="en-US" altLang="ja-JP" baseline="30000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1</a:t>
            </a:r>
            <a:r>
              <a:rPr lang="en-US" altLang="ja-JP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, Marcelo Lobo Heldwein</a:t>
            </a:r>
            <a:r>
              <a:rPr lang="en-US" altLang="ja-JP" baseline="30000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2</a:t>
            </a:r>
            <a:endParaRPr kumimoji="1" lang="en-US" altLang="ja-JP" baseline="30000" dirty="0">
              <a:effectLst>
                <a:glow rad="152400">
                  <a:srgbClr val="F7F2F6">
                    <a:alpha val="90000"/>
                  </a:srgbClr>
                </a:glow>
              </a:effectLst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CEB72F-2F23-FE32-BFFC-67CD050D4A8A}"/>
              </a:ext>
            </a:extLst>
          </p:cNvPr>
          <p:cNvSpPr txBox="1"/>
          <p:nvPr/>
        </p:nvSpPr>
        <p:spPr>
          <a:xfrm>
            <a:off x="384344" y="5563322"/>
            <a:ext cx="1104565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ja-JP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1 </a:t>
            </a:r>
            <a: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Fraunhofer Institute for Integrated Systems and Device Technology IISB,</a:t>
            </a:r>
            <a:b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</a:br>
            <a:r>
              <a:rPr lang="en-US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2 </a:t>
            </a:r>
            <a:r>
              <a:rPr lang="en-US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Chair of High-Power Converter Systems, Technical University of Munich</a:t>
            </a:r>
            <a:endParaRPr lang="en-US" altLang="ja-JP" dirty="0">
              <a:solidFill>
                <a:srgbClr val="2B2F6B"/>
              </a:solidFill>
              <a:effectLst>
                <a:glow rad="152400">
                  <a:srgbClr val="F7F2F6">
                    <a:alpha val="90000"/>
                  </a:srgbClr>
                </a:glow>
              </a:effectLst>
            </a:endParaRPr>
          </a:p>
          <a:p>
            <a:r>
              <a:rPr lang="en-US" altLang="ja-JP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3 </a:t>
            </a:r>
            <a: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Chair of Electronics for Electrical Energy Storage, University of Bayreuth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5D45906-BA03-AF9D-B59A-FBABAFCD239F}"/>
              </a:ext>
            </a:extLst>
          </p:cNvPr>
          <p:cNvSpPr txBox="1">
            <a:spLocks/>
          </p:cNvSpPr>
          <p:nvPr/>
        </p:nvSpPr>
        <p:spPr>
          <a:xfrm>
            <a:off x="384344" y="2156809"/>
            <a:ext cx="327325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18186"/>
                </a:solidFill>
              </a:rPr>
              <a:t>June 2, 2026 - O6-5-03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12CFF1-7E08-87F1-934E-0707360616DE}"/>
              </a:ext>
            </a:extLst>
          </p:cNvPr>
          <p:cNvSpPr txBox="1"/>
          <p:nvPr/>
        </p:nvSpPr>
        <p:spPr>
          <a:xfrm>
            <a:off x="1489520" y="243668"/>
            <a:ext cx="3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ja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May 31 - June 4, 2026</a:t>
            </a:r>
          </a:p>
        </p:txBody>
      </p:sp>
    </p:spTree>
    <p:extLst>
      <p:ext uri="{BB962C8B-B14F-4D97-AF65-F5344CB8AC3E}">
        <p14:creationId xmlns:p14="http://schemas.microsoft.com/office/powerpoint/2010/main" val="2650175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88738-99FF-49AE-9921-BEF19278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Table of Contents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D267C-725C-4828-827D-38D3FDEFD571}"/>
              </a:ext>
            </a:extLst>
          </p:cNvPr>
          <p:cNvSpPr txBox="1">
            <a:spLocks/>
          </p:cNvSpPr>
          <p:nvPr/>
        </p:nvSpPr>
        <p:spPr>
          <a:xfrm>
            <a:off x="609600" y="1092039"/>
            <a:ext cx="10972800" cy="524256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Motivation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Introduction to the Coupled Inductor Buck Converter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Working Principle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Modelling using the Transformer Model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Effects of Coupling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Inductor Design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Potential geometries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Influence of coupling on the flux distribution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Air-Gap and Winding Optimization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Design Comparison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Experimental Prototype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Conclusion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059F6A-42B1-59E0-F6A9-7DF58F94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75F6EFC-0736-35DA-6889-484876D017C9}"/>
              </a:ext>
            </a:extLst>
          </p:cNvPr>
          <p:cNvGrpSpPr/>
          <p:nvPr/>
        </p:nvGrpSpPr>
        <p:grpSpPr>
          <a:xfrm>
            <a:off x="7125741" y="3402110"/>
            <a:ext cx="4771803" cy="2951738"/>
            <a:chOff x="6119998" y="2991971"/>
            <a:chExt cx="4771803" cy="295173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5560A5E6-3C4C-798F-97A0-A9799896F6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62" t="22372" r="28803" b="27380"/>
            <a:stretch>
              <a:fillRect/>
            </a:stretch>
          </p:blipFill>
          <p:spPr bwMode="auto">
            <a:xfrm rot="5400000">
              <a:off x="5729863" y="3382106"/>
              <a:ext cx="2951738" cy="2171468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D1BBC233-0765-B43A-DAA1-09ABF7F4ED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98" t="24652" r="29669" b="16899"/>
            <a:stretch>
              <a:fillRect/>
            </a:stretch>
          </p:blipFill>
          <p:spPr bwMode="auto">
            <a:xfrm rot="16200000">
              <a:off x="8143936" y="3191700"/>
              <a:ext cx="2947594" cy="254813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13" name="Grafik 12">
            <a:extLst>
              <a:ext uri="{FF2B5EF4-FFF2-40B4-BE49-F238E27FC236}">
                <a16:creationId xmlns:a16="http://schemas.microsoft.com/office/drawing/2014/main" id="{ABD25E95-05F9-F318-5512-539A3C9E3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572" y="1485958"/>
            <a:ext cx="4246972" cy="167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97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8DC6-9C02-58FE-CA82-341A3A90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C1226-43A0-770C-CFC0-7294C56B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Motivation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743D4B-1D2D-3F79-07FE-2DB100E9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06BF98D-9CBD-9E3D-886A-D8AB87D4D93F}"/>
              </a:ext>
            </a:extLst>
          </p:cNvPr>
          <p:cNvSpPr txBox="1">
            <a:spLocks/>
          </p:cNvSpPr>
          <p:nvPr/>
        </p:nvSpPr>
        <p:spPr>
          <a:xfrm>
            <a:off x="504986" y="1111287"/>
            <a:ext cx="6865078" cy="500018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Need for 48 V to 12 V Point-of-Load converters with very high power-density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Dominated by resonant converters (mostly LLC)</a:t>
            </a:r>
          </a:p>
          <a:p>
            <a:pPr lvl="1" indent="-252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Limited range of output regulation, often fixed-ratio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Buck</a:t>
            </a:r>
          </a:p>
          <a:p>
            <a:pPr lvl="1" indent="-252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Low power-density and efficiency when hard-switched</a:t>
            </a:r>
          </a:p>
          <a:p>
            <a:pPr lvl="1" indent="-252000"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Solution: High frequency and soft-switching in Triangular-Current-Mode (TCM)</a:t>
            </a:r>
          </a:p>
          <a:p>
            <a:pPr marL="230400" indent="-2304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Challenge: Inductor design</a:t>
            </a:r>
          </a:p>
          <a:p>
            <a:pPr marL="776700" lvl="1" indent="-3429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Air gap fringing effect</a:t>
            </a:r>
          </a:p>
          <a:p>
            <a:pPr marL="776700" lvl="1" indent="-3429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No interleaved windings </a:t>
            </a:r>
          </a:p>
          <a:p>
            <a:pPr marL="776700" lvl="1" indent="-3429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Core DC-bias</a:t>
            </a:r>
          </a:p>
          <a:p>
            <a:pPr marL="433800" indent="-457200">
              <a:spcBef>
                <a:spcPts val="0"/>
              </a:spcBef>
              <a:spcAft>
                <a:spcPts val="1600"/>
              </a:spcAft>
            </a:pPr>
            <a:r>
              <a:rPr lang="en-US" sz="2500" dirty="0"/>
              <a:t>Solution: Planar single-turn coupled inductor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501E74D-4597-3DAF-6D24-4C8A33D36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366" y="3453794"/>
            <a:ext cx="2131759" cy="151379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7D4E716-25D0-59F6-DAD0-71F5276EE2CA}"/>
              </a:ext>
            </a:extLst>
          </p:cNvPr>
          <p:cNvSpPr txBox="1"/>
          <p:nvPr/>
        </p:nvSpPr>
        <p:spPr>
          <a:xfrm>
            <a:off x="2143378" y="6236792"/>
            <a:ext cx="10048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</a:t>
            </a:r>
            <a:r>
              <a:rPr lang="en-US" sz="1200" dirty="0"/>
              <a:t>EPC9174: </a:t>
            </a:r>
            <a:r>
              <a:rPr lang="en-US" sz="1200" dirty="0">
                <a:hlinkClick r:id="rId3"/>
              </a:rPr>
              <a:t>https://epc-co.com/epc/products/evaluation-boards/epc9174</a:t>
            </a:r>
            <a:r>
              <a:rPr lang="en-US" sz="1200" dirty="0"/>
              <a:t> </a:t>
            </a:r>
          </a:p>
          <a:p>
            <a:r>
              <a:rPr lang="en-US" sz="1200" dirty="0"/>
              <a:t>[2] EPC9143: </a:t>
            </a:r>
            <a:r>
              <a:rPr lang="de-DE" sz="1200" dirty="0">
                <a:hlinkClick r:id="rId4"/>
              </a:rPr>
              <a:t>https://epc-co.com/epc/products/evaluation-boards/epc9143</a:t>
            </a:r>
            <a:endParaRPr lang="de-DE" sz="12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2925BDD-3C15-CFB0-1B05-B2A2A792F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366" y="1111287"/>
            <a:ext cx="4415079" cy="167174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8977E10-1C83-F22B-A586-5B206684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174" y="3453794"/>
            <a:ext cx="2131759" cy="1513797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9FE95C9C-FCC4-6471-3D0F-73A4D2115C2E}"/>
              </a:ext>
            </a:extLst>
          </p:cNvPr>
          <p:cNvSpPr txBox="1"/>
          <p:nvPr/>
        </p:nvSpPr>
        <p:spPr>
          <a:xfrm>
            <a:off x="7529366" y="2783033"/>
            <a:ext cx="441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1.2 kW LLC, </a:t>
            </a:r>
            <a:r>
              <a:rPr lang="de-DE" dirty="0" err="1"/>
              <a:t>f</a:t>
            </a:r>
            <a:r>
              <a:rPr lang="de-DE" baseline="-25000" dirty="0" err="1"/>
              <a:t>s</a:t>
            </a:r>
            <a:r>
              <a:rPr lang="de-DE" dirty="0"/>
              <a:t>=1 MHz, </a:t>
            </a:r>
            <a:r>
              <a:rPr lang="el-GR" dirty="0"/>
              <a:t>η</a:t>
            </a:r>
            <a:r>
              <a:rPr lang="de-DE" dirty="0"/>
              <a:t>=96.3 % </a:t>
            </a:r>
            <a:r>
              <a:rPr lang="de-DE" baseline="30000" dirty="0"/>
              <a:t>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E0442A9-4BCF-3F99-D2F8-A95B23AFD114}"/>
              </a:ext>
            </a:extLst>
          </p:cNvPr>
          <p:cNvSpPr txBox="1"/>
          <p:nvPr/>
        </p:nvSpPr>
        <p:spPr>
          <a:xfrm>
            <a:off x="7529366" y="4945821"/>
            <a:ext cx="4339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600 W Buck, </a:t>
            </a:r>
            <a:r>
              <a:rPr lang="de-DE" dirty="0" err="1"/>
              <a:t>f</a:t>
            </a:r>
            <a:r>
              <a:rPr lang="de-DE" baseline="-25000" dirty="0" err="1"/>
              <a:t>s</a:t>
            </a:r>
            <a:r>
              <a:rPr lang="de-DE" baseline="-25000" dirty="0"/>
              <a:t> </a:t>
            </a:r>
            <a:r>
              <a:rPr lang="de-DE" dirty="0"/>
              <a:t>=500 kHz, </a:t>
            </a:r>
            <a:r>
              <a:rPr lang="el-GR" dirty="0"/>
              <a:t>η</a:t>
            </a:r>
            <a:r>
              <a:rPr lang="de-DE" dirty="0"/>
              <a:t>=95.2 % </a:t>
            </a:r>
            <a:r>
              <a:rPr lang="de-DE" baseline="30000" dirty="0"/>
              <a:t>2</a:t>
            </a:r>
          </a:p>
        </p:txBody>
      </p:sp>
      <p:sp>
        <p:nvSpPr>
          <p:cNvPr id="21" name="Geschweifte Klammer rechts 20">
            <a:extLst>
              <a:ext uri="{FF2B5EF4-FFF2-40B4-BE49-F238E27FC236}">
                <a16:creationId xmlns:a16="http://schemas.microsoft.com/office/drawing/2014/main" id="{995B4E65-F31A-7402-C5FA-5EBD73BC21ED}"/>
              </a:ext>
            </a:extLst>
          </p:cNvPr>
          <p:cNvSpPr/>
          <p:nvPr/>
        </p:nvSpPr>
        <p:spPr>
          <a:xfrm>
            <a:off x="3707319" y="4690873"/>
            <a:ext cx="209361" cy="566928"/>
          </a:xfrm>
          <a:prstGeom prst="rightBrace">
            <a:avLst>
              <a:gd name="adj1" fmla="val 52446"/>
              <a:gd name="adj2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BD78685-105E-EBD5-5C2D-827918401119}"/>
              </a:ext>
            </a:extLst>
          </p:cNvPr>
          <p:cNvSpPr txBox="1"/>
          <p:nvPr/>
        </p:nvSpPr>
        <p:spPr>
          <a:xfrm>
            <a:off x="3898392" y="4780317"/>
            <a:ext cx="17272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00" noProof="1"/>
              <a:t>copper loss </a:t>
            </a:r>
          </a:p>
        </p:txBody>
      </p:sp>
    </p:spTree>
    <p:extLst>
      <p:ext uri="{BB962C8B-B14F-4D97-AF65-F5344CB8AC3E}">
        <p14:creationId xmlns:p14="http://schemas.microsoft.com/office/powerpoint/2010/main" val="42066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6C6F9-A8A9-94C9-B901-7A414EA02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473616-5883-34F4-DDC9-27BAAB91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Introduction – Working Principle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C2E176-6A19-C7BB-CAE5-92E47320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EB3D3398-68E2-DD1D-0F2E-DA01618D0B65}"/>
              </a:ext>
            </a:extLst>
          </p:cNvPr>
          <p:cNvGrpSpPr/>
          <p:nvPr/>
        </p:nvGrpSpPr>
        <p:grpSpPr>
          <a:xfrm>
            <a:off x="5147677" y="1178523"/>
            <a:ext cx="6796768" cy="5242560"/>
            <a:chOff x="504986" y="2816679"/>
            <a:chExt cx="4455082" cy="3061958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25A08313-3035-4367-3BCF-E0CA00F51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904" y="2816679"/>
              <a:ext cx="2042164" cy="2679197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7E3BA504-FF6F-0912-BFD0-0665B01F4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986" y="2816679"/>
              <a:ext cx="2209804" cy="2679197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011B6FAD-EF75-E666-9A6E-CD98B8FB2641}"/>
                </a:ext>
              </a:extLst>
            </p:cNvPr>
            <p:cNvSpPr txBox="1"/>
            <p:nvPr/>
          </p:nvSpPr>
          <p:spPr>
            <a:xfrm>
              <a:off x="504986" y="5495876"/>
              <a:ext cx="2209804" cy="38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Negative Coupling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2723EC8-88DB-89AA-94C9-00FB61F341C9}"/>
                </a:ext>
              </a:extLst>
            </p:cNvPr>
            <p:cNvSpPr txBox="1"/>
            <p:nvPr/>
          </p:nvSpPr>
          <p:spPr>
            <a:xfrm>
              <a:off x="2917904" y="5495875"/>
              <a:ext cx="2042164" cy="38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Positive Coupling</a:t>
              </a: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3B69DF6-A217-B8BC-B1A7-7560191CE9F1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4348080" cy="29409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Same Modulation as </a:t>
            </a:r>
            <a:br>
              <a:rPr lang="en-US" sz="2400" dirty="0"/>
            </a:br>
            <a:r>
              <a:rPr lang="en-US" sz="2400" dirty="0"/>
              <a:t>2ph Buck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Coupling causes change of the slopes when other leg is pulled to v</a:t>
            </a:r>
            <a:r>
              <a:rPr lang="en-US" sz="2400" baseline="-25000" dirty="0"/>
              <a:t>in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Zero-Voltage-Switching </a:t>
            </a:r>
            <a:br>
              <a:rPr lang="en-US" sz="2400" dirty="0"/>
            </a:br>
            <a:r>
              <a:rPr lang="en-US" sz="2400" dirty="0"/>
              <a:t>turn-on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8925DE60-B2FF-9AF4-8EA0-FAC75A34B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2" y="3896229"/>
            <a:ext cx="4397507" cy="172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09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5E6A-9F4F-BD8B-E6EF-B1B56C25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B6EDE-44F5-D2BB-2AFD-11B1F499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Introduction – Effects of Coupling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67BBF7-4BB1-9821-E57E-5B7B4BB8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C27461-F7C8-87D0-FB1C-EB766A230D99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2940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Modelling the coupled inductor as an </a:t>
            </a:r>
            <a:r>
              <a:rPr lang="en-US" sz="2400" i="1" dirty="0"/>
              <a:t>ideal</a:t>
            </a:r>
            <a:r>
              <a:rPr lang="en-US" sz="2400" dirty="0"/>
              <a:t> transformer and two inductors</a:t>
            </a:r>
          </a:p>
          <a:p>
            <a:pPr lvl="1" indent="-288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Voltages across the two inductors become independent!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3754028-B67B-D9D9-028E-9F74CCE32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504" y="2446416"/>
            <a:ext cx="2489377" cy="61576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98F2868-DEFE-D302-6771-D1C845D83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69" b="13105"/>
          <a:stretch>
            <a:fillRect/>
          </a:stretch>
        </p:blipFill>
        <p:spPr>
          <a:xfrm>
            <a:off x="4888733" y="1147791"/>
            <a:ext cx="1775903" cy="123811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1529061-2149-B29D-B447-8514D38FC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2" r="-900" b="13105"/>
          <a:stretch>
            <a:fillRect/>
          </a:stretch>
        </p:blipFill>
        <p:spPr>
          <a:xfrm>
            <a:off x="8403455" y="1111288"/>
            <a:ext cx="2386853" cy="123811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B2B5CEA-FCA4-E265-F96B-48F143ED0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628" y="2446416"/>
            <a:ext cx="4347575" cy="615760"/>
          </a:xfrm>
          <a:prstGeom prst="rect">
            <a:avLst/>
          </a:prstGeom>
        </p:spPr>
      </p:pic>
      <p:sp>
        <p:nvSpPr>
          <p:cNvPr id="22" name="Geschweifte Klammer rechts 21">
            <a:extLst>
              <a:ext uri="{FF2B5EF4-FFF2-40B4-BE49-F238E27FC236}">
                <a16:creationId xmlns:a16="http://schemas.microsoft.com/office/drawing/2014/main" id="{2B19CCDC-F411-C06A-C9B1-DFB1CDF0419E}"/>
              </a:ext>
            </a:extLst>
          </p:cNvPr>
          <p:cNvSpPr/>
          <p:nvPr/>
        </p:nvSpPr>
        <p:spPr>
          <a:xfrm rot="5400000">
            <a:off x="7916734" y="-441754"/>
            <a:ext cx="426766" cy="7628656"/>
          </a:xfrm>
          <a:prstGeom prst="rightBrace">
            <a:avLst>
              <a:gd name="adj1" fmla="val 5244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85B434A6-A372-0EAA-B8DD-0526F2474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3461" y="3757501"/>
            <a:ext cx="2244347" cy="592259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4A12A110-FEE0-BDE6-68AE-3BC4C2C235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455" y="3757501"/>
            <a:ext cx="2040004" cy="59225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5F6C1642-1A77-D8D8-0674-82931E9787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2" y="3896229"/>
            <a:ext cx="4397507" cy="1729204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4082C62-9957-2364-544D-9FEA2D560661}"/>
              </a:ext>
            </a:extLst>
          </p:cNvPr>
          <p:cNvGrpSpPr/>
          <p:nvPr/>
        </p:nvGrpSpPr>
        <p:grpSpPr>
          <a:xfrm>
            <a:off x="6254073" y="4706471"/>
            <a:ext cx="3876008" cy="1835061"/>
            <a:chOff x="6254073" y="4706471"/>
            <a:chExt cx="3876008" cy="1835061"/>
          </a:xfrm>
        </p:grpSpPr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D52CB96C-41BD-FC3B-E278-D4D53A4193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1881" y="4706471"/>
              <a:ext cx="0" cy="14052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39AE5AFD-32DC-2A51-9E58-D6D87A2532FD}"/>
                </a:ext>
              </a:extLst>
            </p:cNvPr>
            <p:cNvCxnSpPr>
              <a:cxnSpLocks/>
            </p:cNvCxnSpPr>
            <p:nvPr/>
          </p:nvCxnSpPr>
          <p:spPr>
            <a:xfrm>
              <a:off x="6901881" y="6111689"/>
              <a:ext cx="28037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22B6E2E6-373F-442D-C70B-E8E2CA48ED06}"/>
                </a:ext>
              </a:extLst>
            </p:cNvPr>
            <p:cNvCxnSpPr>
              <a:cxnSpLocks/>
            </p:cNvCxnSpPr>
            <p:nvPr/>
          </p:nvCxnSpPr>
          <p:spPr>
            <a:xfrm>
              <a:off x="6901881" y="4928347"/>
              <a:ext cx="2564848" cy="118334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7A057AA2-88E3-D9AD-9572-08676D849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1881" y="4928347"/>
              <a:ext cx="2564848" cy="1183342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17659FA4-7A65-60BE-C557-F3A4A67534DD}"/>
                </a:ext>
              </a:extLst>
            </p:cNvPr>
            <p:cNvSpPr txBox="1"/>
            <p:nvPr/>
          </p:nvSpPr>
          <p:spPr>
            <a:xfrm>
              <a:off x="9645986" y="5927023"/>
              <a:ext cx="484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69F41684-4566-609F-28AB-EAA92F9AFF4E}"/>
                </a:ext>
              </a:extLst>
            </p:cNvPr>
            <p:cNvCxnSpPr>
              <a:cxnSpLocks/>
              <a:endCxn id="52" idx="0"/>
            </p:cNvCxnSpPr>
            <p:nvPr/>
          </p:nvCxnSpPr>
          <p:spPr>
            <a:xfrm>
              <a:off x="8191026" y="4928347"/>
              <a:ext cx="0" cy="1243853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72132971-2AA3-DB42-7CF0-424BED0C9812}"/>
                </a:ext>
              </a:extLst>
            </p:cNvPr>
            <p:cNvSpPr txBox="1"/>
            <p:nvPr/>
          </p:nvSpPr>
          <p:spPr>
            <a:xfrm>
              <a:off x="8023416" y="6172200"/>
              <a:ext cx="335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0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4FAF63A0-D1D8-05BA-BD8E-D6FE2802628B}"/>
                </a:ext>
              </a:extLst>
            </p:cNvPr>
            <p:cNvSpPr txBox="1"/>
            <p:nvPr/>
          </p:nvSpPr>
          <p:spPr>
            <a:xfrm>
              <a:off x="6692056" y="6167078"/>
              <a:ext cx="446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-1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03C18B1D-82C1-1CBE-8ABF-C513FCA3BBE2}"/>
                </a:ext>
              </a:extLst>
            </p:cNvPr>
            <p:cNvSpPr txBox="1"/>
            <p:nvPr/>
          </p:nvSpPr>
          <p:spPr>
            <a:xfrm>
              <a:off x="9248015" y="6167078"/>
              <a:ext cx="446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1</a:t>
              </a:r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9C7EE531-B2C0-3D05-6E58-32AF6D5DA623}"/>
                </a:ext>
              </a:extLst>
            </p:cNvPr>
            <p:cNvSpPr txBox="1"/>
            <p:nvPr/>
          </p:nvSpPr>
          <p:spPr>
            <a:xfrm>
              <a:off x="8633873" y="4740313"/>
              <a:ext cx="789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i="1" dirty="0" err="1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de-DE" baseline="-25000" dirty="0" err="1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  <a:endParaRPr lang="de-DE" baseline="-25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95553150-3592-9690-BEAE-EBBD2C1AC46D}"/>
                </a:ext>
              </a:extLst>
            </p:cNvPr>
            <p:cNvSpPr txBox="1"/>
            <p:nvPr/>
          </p:nvSpPr>
          <p:spPr>
            <a:xfrm>
              <a:off x="8677145" y="5460735"/>
              <a:ext cx="789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i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de-DE" baseline="-25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E5F2D288-DD31-C4CB-02DF-3AFDB7C77F31}"/>
                </a:ext>
              </a:extLst>
            </p:cNvPr>
            <p:cNvSpPr txBox="1"/>
            <p:nvPr/>
          </p:nvSpPr>
          <p:spPr>
            <a:xfrm>
              <a:off x="6254073" y="4747037"/>
              <a:ext cx="557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de-DE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self</a:t>
              </a:r>
              <a:endParaRPr lang="de-DE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16E1C88-7A33-A7ED-F549-328C674BC377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>
              <a:off x="6811148" y="4931703"/>
              <a:ext cx="179258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4149FD13-E736-777C-4CEF-963728F371BE}"/>
                </a:ext>
              </a:extLst>
            </p:cNvPr>
            <p:cNvCxnSpPr>
              <a:cxnSpLocks/>
              <a:stCxn id="70" idx="3"/>
            </p:cNvCxnSpPr>
            <p:nvPr/>
          </p:nvCxnSpPr>
          <p:spPr>
            <a:xfrm flipV="1">
              <a:off x="6796039" y="5513645"/>
              <a:ext cx="2677414" cy="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F7F7A64D-99AE-9DFB-2A2D-A4FFC2B2E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2176"/>
            <a:stretch>
              <a:fillRect/>
            </a:stretch>
          </p:blipFill>
          <p:spPr>
            <a:xfrm>
              <a:off x="6291488" y="5274379"/>
              <a:ext cx="504551" cy="4785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607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50924-D3A4-12BF-8408-850D3351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151E5-D72A-E6FD-DBAF-D53F2691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Introduction – Effects of Coupling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69DF7A-EC59-BEBB-7672-743A9488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35282F9-71C4-D096-60ED-DC6A721DC08F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2940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Modelling the coupled inductor as an </a:t>
            </a:r>
            <a:r>
              <a:rPr lang="en-US" sz="2400" i="1" dirty="0"/>
              <a:t>ideal</a:t>
            </a:r>
            <a:r>
              <a:rPr lang="en-US" sz="2400" dirty="0"/>
              <a:t> transformer and two inductors</a:t>
            </a:r>
          </a:p>
          <a:p>
            <a:pPr lvl="1" indent="-288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Voltages across the two inductors become independent!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4E8879E5-2FA6-67C2-1D0B-A10378268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2" r="-900" b="13105"/>
          <a:stretch>
            <a:fillRect/>
          </a:stretch>
        </p:blipFill>
        <p:spPr>
          <a:xfrm>
            <a:off x="4419384" y="1165493"/>
            <a:ext cx="2765950" cy="143475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7CA1A779-9AA4-8438-74DD-5524FB75E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2" y="3896229"/>
            <a:ext cx="4397507" cy="1729204"/>
          </a:xfrm>
          <a:prstGeom prst="rect">
            <a:avLst/>
          </a:prstGeom>
        </p:spPr>
      </p:pic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193CE30-6E7A-308D-DC9A-43CD1012F76A}"/>
              </a:ext>
            </a:extLst>
          </p:cNvPr>
          <p:cNvCxnSpPr>
            <a:cxnSpLocks/>
          </p:cNvCxnSpPr>
          <p:nvPr/>
        </p:nvCxnSpPr>
        <p:spPr>
          <a:xfrm flipV="1">
            <a:off x="8206095" y="1077446"/>
            <a:ext cx="0" cy="1405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E86A517-6308-F86E-7D04-3CB541FEFCD0}"/>
              </a:ext>
            </a:extLst>
          </p:cNvPr>
          <p:cNvCxnSpPr>
            <a:cxnSpLocks/>
          </p:cNvCxnSpPr>
          <p:nvPr/>
        </p:nvCxnSpPr>
        <p:spPr>
          <a:xfrm>
            <a:off x="8206095" y="2482664"/>
            <a:ext cx="2803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C424B39-09DB-094C-E960-976AA11C5FC7}"/>
              </a:ext>
            </a:extLst>
          </p:cNvPr>
          <p:cNvCxnSpPr>
            <a:cxnSpLocks/>
          </p:cNvCxnSpPr>
          <p:nvPr/>
        </p:nvCxnSpPr>
        <p:spPr>
          <a:xfrm>
            <a:off x="8206095" y="1299322"/>
            <a:ext cx="2564848" cy="118334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0677448-3140-9D24-59BC-BED691542783}"/>
              </a:ext>
            </a:extLst>
          </p:cNvPr>
          <p:cNvCxnSpPr>
            <a:cxnSpLocks/>
          </p:cNvCxnSpPr>
          <p:nvPr/>
        </p:nvCxnSpPr>
        <p:spPr>
          <a:xfrm flipV="1">
            <a:off x="8206095" y="1299322"/>
            <a:ext cx="2564848" cy="1183342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8F5CC844-7F51-81CA-5879-F413AAEA253A}"/>
              </a:ext>
            </a:extLst>
          </p:cNvPr>
          <p:cNvSpPr txBox="1"/>
          <p:nvPr/>
        </p:nvSpPr>
        <p:spPr>
          <a:xfrm>
            <a:off x="10950200" y="2297998"/>
            <a:ext cx="48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42A79573-4447-112B-94CB-D4707FECD6C2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9495240" y="1299322"/>
            <a:ext cx="0" cy="124385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DB1026FF-C8EB-5E41-38CA-10CFF1995790}"/>
              </a:ext>
            </a:extLst>
          </p:cNvPr>
          <p:cNvSpPr txBox="1"/>
          <p:nvPr/>
        </p:nvSpPr>
        <p:spPr>
          <a:xfrm>
            <a:off x="9327630" y="2543175"/>
            <a:ext cx="3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0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8457986D-6F2A-192C-F003-F66812DC32D4}"/>
              </a:ext>
            </a:extLst>
          </p:cNvPr>
          <p:cNvSpPr txBox="1"/>
          <p:nvPr/>
        </p:nvSpPr>
        <p:spPr>
          <a:xfrm>
            <a:off x="7996270" y="2538053"/>
            <a:ext cx="44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-1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A15CBCD-CE2E-798A-A971-9652073DA2F8}"/>
              </a:ext>
            </a:extLst>
          </p:cNvPr>
          <p:cNvSpPr txBox="1"/>
          <p:nvPr/>
        </p:nvSpPr>
        <p:spPr>
          <a:xfrm>
            <a:off x="10552229" y="2538053"/>
            <a:ext cx="44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D6179379-55C9-A34C-A8B9-4B5ABF839883}"/>
              </a:ext>
            </a:extLst>
          </p:cNvPr>
          <p:cNvSpPr txBox="1"/>
          <p:nvPr/>
        </p:nvSpPr>
        <p:spPr>
          <a:xfrm>
            <a:off x="9938087" y="1111288"/>
            <a:ext cx="78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de-DE" baseline="-250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de-DE" baseline="-250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AAA52962-A88F-A272-1829-140CC79574A4}"/>
              </a:ext>
            </a:extLst>
          </p:cNvPr>
          <p:cNvSpPr txBox="1"/>
          <p:nvPr/>
        </p:nvSpPr>
        <p:spPr>
          <a:xfrm>
            <a:off x="9981359" y="1831710"/>
            <a:ext cx="78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de-DE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E209BDD-5FC3-BC2F-6D3C-669229606839}"/>
              </a:ext>
            </a:extLst>
          </p:cNvPr>
          <p:cNvSpPr txBox="1"/>
          <p:nvPr/>
        </p:nvSpPr>
        <p:spPr>
          <a:xfrm>
            <a:off x="7558287" y="1118012"/>
            <a:ext cx="55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de-D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endParaRPr lang="de-DE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2A0EAC71-CEBE-AB41-3141-C44BA345B45A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8115362" y="1302678"/>
            <a:ext cx="179258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4613C855-82B0-C393-3C9D-5873F11DBB6C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8100253" y="1884620"/>
            <a:ext cx="2677414" cy="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Grafik 69">
            <a:extLst>
              <a:ext uri="{FF2B5EF4-FFF2-40B4-BE49-F238E27FC236}">
                <a16:creationId xmlns:a16="http://schemas.microsoft.com/office/drawing/2014/main" id="{D58037A0-EB7F-5C89-9B0F-5BF399160E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176"/>
          <a:stretch>
            <a:fillRect/>
          </a:stretch>
        </p:blipFill>
        <p:spPr>
          <a:xfrm>
            <a:off x="7595702" y="1645354"/>
            <a:ext cx="504551" cy="47853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307D13C-1B58-B0A5-B293-7AA983AD0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152" y="3253683"/>
            <a:ext cx="6076935" cy="303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53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125A-64B0-E295-6086-ED86204CC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88684-9B51-1C45-6637-F21BFCE83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Inductor Design – Potential Geometries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7279B7-6198-73B6-B5D9-24D0E164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38F9C61-3518-1EAE-E93E-F0F980EA6052}"/>
              </a:ext>
            </a:extLst>
          </p:cNvPr>
          <p:cNvSpPr txBox="1">
            <a:spLocks/>
          </p:cNvSpPr>
          <p:nvPr/>
        </p:nvSpPr>
        <p:spPr>
          <a:xfrm>
            <a:off x="504985" y="1111288"/>
            <a:ext cx="3598991" cy="49466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Investigation of 4 different designs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(a) and (b): Coupled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(c) and (d): Uncoupled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Design Goals: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de-DE" sz="2100" i="1" dirty="0" err="1"/>
              <a:t>P</a:t>
            </a:r>
            <a:r>
              <a:rPr lang="de-DE" sz="2100" baseline="-25000" dirty="0" err="1"/>
              <a:t>out</a:t>
            </a:r>
            <a:r>
              <a:rPr lang="de-DE" sz="2100" dirty="0"/>
              <a:t> = 1 kW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de-DE" sz="2100" i="1" dirty="0"/>
              <a:t>V</a:t>
            </a:r>
            <a:r>
              <a:rPr lang="de-DE" sz="2100" baseline="-25000" dirty="0"/>
              <a:t>in</a:t>
            </a:r>
            <a:r>
              <a:rPr lang="de-DE" sz="2100" dirty="0"/>
              <a:t> = 48 V, </a:t>
            </a:r>
            <a:r>
              <a:rPr lang="de-DE" sz="2100" i="1" dirty="0" err="1"/>
              <a:t>V</a:t>
            </a:r>
            <a:r>
              <a:rPr lang="de-DE" sz="2100" baseline="-25000" dirty="0" err="1"/>
              <a:t>out</a:t>
            </a:r>
            <a:r>
              <a:rPr lang="de-DE" sz="2100" dirty="0"/>
              <a:t> = 12 V</a:t>
            </a:r>
          </a:p>
          <a:p>
            <a:pPr lvl="2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de-DE" sz="1700" i="1" dirty="0" err="1"/>
              <a:t>I</a:t>
            </a:r>
            <a:r>
              <a:rPr lang="de-DE" sz="1700" baseline="-25000" dirty="0" err="1"/>
              <a:t>ripple</a:t>
            </a:r>
            <a:r>
              <a:rPr lang="de-DE" sz="1700" dirty="0"/>
              <a:t> = 100 A</a:t>
            </a:r>
            <a:endParaRPr lang="de-DE" sz="1700" i="1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de-DE" sz="2100" i="1" dirty="0" err="1"/>
              <a:t>f</a:t>
            </a:r>
            <a:r>
              <a:rPr lang="de-DE" sz="2100" baseline="-25000" dirty="0" err="1"/>
              <a:t>s</a:t>
            </a:r>
            <a:r>
              <a:rPr lang="de-DE" sz="2100" dirty="0"/>
              <a:t> = 1 – 3 MHz</a:t>
            </a:r>
            <a:endParaRPr lang="de-DE" sz="2100" i="1" dirty="0"/>
          </a:p>
          <a:p>
            <a:pPr lvl="2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de-DE" sz="1700" i="1" dirty="0" err="1"/>
              <a:t>L</a:t>
            </a:r>
            <a:r>
              <a:rPr lang="de-DE" sz="1700" baseline="-25000" dirty="0" err="1"/>
              <a:t>self</a:t>
            </a:r>
            <a:r>
              <a:rPr lang="de-DE" sz="1700" dirty="0"/>
              <a:t> </a:t>
            </a:r>
            <a:r>
              <a:rPr lang="de-DE" sz="1600" dirty="0"/>
              <a:t>≈ 70 </a:t>
            </a:r>
            <a:r>
              <a:rPr lang="de-DE" sz="1600" dirty="0" err="1"/>
              <a:t>nH</a:t>
            </a:r>
            <a:endParaRPr lang="de-DE" sz="16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E9F4509-4B24-A936-CDC3-BA0AD54EB9CB}"/>
              </a:ext>
            </a:extLst>
          </p:cNvPr>
          <p:cNvSpPr/>
          <p:nvPr/>
        </p:nvSpPr>
        <p:spPr>
          <a:xfrm rot="10800000">
            <a:off x="4517453" y="2694929"/>
            <a:ext cx="211863" cy="4911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BB07527-BDD0-D5AB-968A-B235833EEF9D}"/>
              </a:ext>
            </a:extLst>
          </p:cNvPr>
          <p:cNvSpPr/>
          <p:nvPr/>
        </p:nvSpPr>
        <p:spPr>
          <a:xfrm rot="10800000">
            <a:off x="5194552" y="2702851"/>
            <a:ext cx="185907" cy="4191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Rechteck 3">
            <a:extLst>
              <a:ext uri="{FF2B5EF4-FFF2-40B4-BE49-F238E27FC236}">
                <a16:creationId xmlns:a16="http://schemas.microsoft.com/office/drawing/2014/main" id="{CF85A724-1291-8C0A-F0CA-40455B89EC93}"/>
              </a:ext>
            </a:extLst>
          </p:cNvPr>
          <p:cNvSpPr/>
          <p:nvPr/>
        </p:nvSpPr>
        <p:spPr>
          <a:xfrm rot="5400000">
            <a:off x="4819649" y="2883836"/>
            <a:ext cx="258615" cy="863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hteck 3">
            <a:extLst>
              <a:ext uri="{FF2B5EF4-FFF2-40B4-BE49-F238E27FC236}">
                <a16:creationId xmlns:a16="http://schemas.microsoft.com/office/drawing/2014/main" id="{4B703386-35C4-9B4F-A6E7-EA33DEDBE3E3}"/>
              </a:ext>
            </a:extLst>
          </p:cNvPr>
          <p:cNvSpPr/>
          <p:nvPr/>
        </p:nvSpPr>
        <p:spPr>
          <a:xfrm rot="5400000">
            <a:off x="6035272" y="852822"/>
            <a:ext cx="258615" cy="32942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" name="Rechteck 3">
            <a:extLst>
              <a:ext uri="{FF2B5EF4-FFF2-40B4-BE49-F238E27FC236}">
                <a16:creationId xmlns:a16="http://schemas.microsoft.com/office/drawing/2014/main" id="{87A04D95-8C6B-3585-86A9-B35DEFF277CB}"/>
              </a:ext>
            </a:extLst>
          </p:cNvPr>
          <p:cNvSpPr/>
          <p:nvPr/>
        </p:nvSpPr>
        <p:spPr>
          <a:xfrm rot="10800000" flipH="1">
            <a:off x="6031277" y="2694929"/>
            <a:ext cx="211863" cy="4911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Rechteck 6">
            <a:extLst>
              <a:ext uri="{FF2B5EF4-FFF2-40B4-BE49-F238E27FC236}">
                <a16:creationId xmlns:a16="http://schemas.microsoft.com/office/drawing/2014/main" id="{04D16F3A-CD8A-2715-C3D0-8628DC06C228}"/>
              </a:ext>
            </a:extLst>
          </p:cNvPr>
          <p:cNvSpPr/>
          <p:nvPr/>
        </p:nvSpPr>
        <p:spPr>
          <a:xfrm rot="10800000" flipH="1">
            <a:off x="5380135" y="2702851"/>
            <a:ext cx="185907" cy="4191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Rechteck 3">
            <a:extLst>
              <a:ext uri="{FF2B5EF4-FFF2-40B4-BE49-F238E27FC236}">
                <a16:creationId xmlns:a16="http://schemas.microsoft.com/office/drawing/2014/main" id="{F22E5701-E57A-20A6-2D22-C5F59D1523A5}"/>
              </a:ext>
            </a:extLst>
          </p:cNvPr>
          <p:cNvSpPr/>
          <p:nvPr/>
        </p:nvSpPr>
        <p:spPr>
          <a:xfrm rot="16200000" flipH="1">
            <a:off x="5682330" y="2883836"/>
            <a:ext cx="258615" cy="863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hteck 3">
            <a:extLst>
              <a:ext uri="{FF2B5EF4-FFF2-40B4-BE49-F238E27FC236}">
                <a16:creationId xmlns:a16="http://schemas.microsoft.com/office/drawing/2014/main" id="{8FF7B89D-7897-1E42-7B83-231ACBADD80F}"/>
              </a:ext>
            </a:extLst>
          </p:cNvPr>
          <p:cNvSpPr/>
          <p:nvPr/>
        </p:nvSpPr>
        <p:spPr>
          <a:xfrm rot="10800000">
            <a:off x="6086017" y="2694929"/>
            <a:ext cx="211863" cy="4911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hteck 6">
            <a:extLst>
              <a:ext uri="{FF2B5EF4-FFF2-40B4-BE49-F238E27FC236}">
                <a16:creationId xmlns:a16="http://schemas.microsoft.com/office/drawing/2014/main" id="{A71438A0-3085-60F6-1837-B00F3036B87E}"/>
              </a:ext>
            </a:extLst>
          </p:cNvPr>
          <p:cNvSpPr/>
          <p:nvPr/>
        </p:nvSpPr>
        <p:spPr>
          <a:xfrm rot="10800000">
            <a:off x="6763510" y="2702851"/>
            <a:ext cx="185907" cy="4191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hteck 3">
            <a:extLst>
              <a:ext uri="{FF2B5EF4-FFF2-40B4-BE49-F238E27FC236}">
                <a16:creationId xmlns:a16="http://schemas.microsoft.com/office/drawing/2014/main" id="{A3D538B2-BE02-94DF-856E-F51482F9BC07}"/>
              </a:ext>
            </a:extLst>
          </p:cNvPr>
          <p:cNvSpPr/>
          <p:nvPr/>
        </p:nvSpPr>
        <p:spPr>
          <a:xfrm rot="5400000">
            <a:off x="6388214" y="2883836"/>
            <a:ext cx="258615" cy="863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hteck 3">
            <a:extLst>
              <a:ext uri="{FF2B5EF4-FFF2-40B4-BE49-F238E27FC236}">
                <a16:creationId xmlns:a16="http://schemas.microsoft.com/office/drawing/2014/main" id="{CEA03A8A-584F-A811-AB3B-E274181935A3}"/>
              </a:ext>
            </a:extLst>
          </p:cNvPr>
          <p:cNvSpPr/>
          <p:nvPr/>
        </p:nvSpPr>
        <p:spPr>
          <a:xfrm rot="10800000" flipH="1">
            <a:off x="7599842" y="2694929"/>
            <a:ext cx="211863" cy="4911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hteck 6">
            <a:extLst>
              <a:ext uri="{FF2B5EF4-FFF2-40B4-BE49-F238E27FC236}">
                <a16:creationId xmlns:a16="http://schemas.microsoft.com/office/drawing/2014/main" id="{C1E738A5-850F-39F8-AEB3-6CCE0539D12E}"/>
              </a:ext>
            </a:extLst>
          </p:cNvPr>
          <p:cNvSpPr/>
          <p:nvPr/>
        </p:nvSpPr>
        <p:spPr>
          <a:xfrm rot="10800000" flipH="1">
            <a:off x="6949092" y="2702851"/>
            <a:ext cx="185907" cy="4191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hteck 3">
            <a:extLst>
              <a:ext uri="{FF2B5EF4-FFF2-40B4-BE49-F238E27FC236}">
                <a16:creationId xmlns:a16="http://schemas.microsoft.com/office/drawing/2014/main" id="{96364045-C6E2-E20D-0470-61748EFA1899}"/>
              </a:ext>
            </a:extLst>
          </p:cNvPr>
          <p:cNvSpPr/>
          <p:nvPr/>
        </p:nvSpPr>
        <p:spPr>
          <a:xfrm rot="16200000" flipH="1">
            <a:off x="7250894" y="2883836"/>
            <a:ext cx="258615" cy="863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71DEF1C-A194-E62E-BB81-846E7DB5DB6A}"/>
              </a:ext>
            </a:extLst>
          </p:cNvPr>
          <p:cNvSpPr/>
          <p:nvPr/>
        </p:nvSpPr>
        <p:spPr>
          <a:xfrm rot="10800000">
            <a:off x="8153367" y="2698729"/>
            <a:ext cx="258125" cy="49204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90662E1-BCE7-765F-25BD-886499ED922A}"/>
              </a:ext>
            </a:extLst>
          </p:cNvPr>
          <p:cNvSpPr/>
          <p:nvPr/>
        </p:nvSpPr>
        <p:spPr>
          <a:xfrm rot="10800000">
            <a:off x="8974405" y="2708787"/>
            <a:ext cx="226501" cy="4199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hteck 3">
            <a:extLst>
              <a:ext uri="{FF2B5EF4-FFF2-40B4-BE49-F238E27FC236}">
                <a16:creationId xmlns:a16="http://schemas.microsoft.com/office/drawing/2014/main" id="{99877DB5-E932-6D70-AD14-695E7565E242}"/>
              </a:ext>
            </a:extLst>
          </p:cNvPr>
          <p:cNvSpPr/>
          <p:nvPr/>
        </p:nvSpPr>
        <p:spPr>
          <a:xfrm rot="5400000">
            <a:off x="8549535" y="2794608"/>
            <a:ext cx="259111" cy="10514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hteck 3">
            <a:extLst>
              <a:ext uri="{FF2B5EF4-FFF2-40B4-BE49-F238E27FC236}">
                <a16:creationId xmlns:a16="http://schemas.microsoft.com/office/drawing/2014/main" id="{EBDDA6C1-7999-9EE8-C84A-6C32C0FE61D3}"/>
              </a:ext>
            </a:extLst>
          </p:cNvPr>
          <p:cNvSpPr/>
          <p:nvPr/>
        </p:nvSpPr>
        <p:spPr>
          <a:xfrm rot="5400000">
            <a:off x="9840631" y="686553"/>
            <a:ext cx="259111" cy="36336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" name="Rechteck 6">
            <a:extLst>
              <a:ext uri="{FF2B5EF4-FFF2-40B4-BE49-F238E27FC236}">
                <a16:creationId xmlns:a16="http://schemas.microsoft.com/office/drawing/2014/main" id="{902A353D-8B92-37B5-AAF4-108DAB090976}"/>
              </a:ext>
            </a:extLst>
          </p:cNvPr>
          <p:cNvSpPr/>
          <p:nvPr/>
        </p:nvSpPr>
        <p:spPr>
          <a:xfrm rot="10800000" flipH="1">
            <a:off x="9200510" y="2708787"/>
            <a:ext cx="226501" cy="4199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hteck 3">
            <a:extLst>
              <a:ext uri="{FF2B5EF4-FFF2-40B4-BE49-F238E27FC236}">
                <a16:creationId xmlns:a16="http://schemas.microsoft.com/office/drawing/2014/main" id="{5B6D2F36-DBA7-F0FC-4EDD-F51E7DA8D6D7}"/>
              </a:ext>
            </a:extLst>
          </p:cNvPr>
          <p:cNvSpPr/>
          <p:nvPr/>
        </p:nvSpPr>
        <p:spPr>
          <a:xfrm rot="16200000" flipH="1">
            <a:off x="9600587" y="2794608"/>
            <a:ext cx="259111" cy="10514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hteck 6">
            <a:extLst>
              <a:ext uri="{FF2B5EF4-FFF2-40B4-BE49-F238E27FC236}">
                <a16:creationId xmlns:a16="http://schemas.microsoft.com/office/drawing/2014/main" id="{D1ABBF3C-F641-8EDE-81D4-47CAEFAA2D49}"/>
              </a:ext>
            </a:extLst>
          </p:cNvPr>
          <p:cNvSpPr/>
          <p:nvPr/>
        </p:nvSpPr>
        <p:spPr>
          <a:xfrm rot="10800000">
            <a:off x="10505545" y="2708787"/>
            <a:ext cx="226501" cy="4199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8" name="Rechteck 3">
            <a:extLst>
              <a:ext uri="{FF2B5EF4-FFF2-40B4-BE49-F238E27FC236}">
                <a16:creationId xmlns:a16="http://schemas.microsoft.com/office/drawing/2014/main" id="{B25D3A16-C93E-CD21-EA59-CB917436DAED}"/>
              </a:ext>
            </a:extLst>
          </p:cNvPr>
          <p:cNvSpPr/>
          <p:nvPr/>
        </p:nvSpPr>
        <p:spPr>
          <a:xfrm rot="5400000">
            <a:off x="10080676" y="2794608"/>
            <a:ext cx="259111" cy="10514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0" name="Rechteck 3">
            <a:extLst>
              <a:ext uri="{FF2B5EF4-FFF2-40B4-BE49-F238E27FC236}">
                <a16:creationId xmlns:a16="http://schemas.microsoft.com/office/drawing/2014/main" id="{8B19C5C3-6A5F-6F9D-5261-67AEBD405470}"/>
              </a:ext>
            </a:extLst>
          </p:cNvPr>
          <p:cNvSpPr/>
          <p:nvPr/>
        </p:nvSpPr>
        <p:spPr>
          <a:xfrm rot="10800000" flipH="1">
            <a:off x="11528882" y="2698729"/>
            <a:ext cx="258125" cy="49204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hteck 6">
            <a:extLst>
              <a:ext uri="{FF2B5EF4-FFF2-40B4-BE49-F238E27FC236}">
                <a16:creationId xmlns:a16="http://schemas.microsoft.com/office/drawing/2014/main" id="{A74FBCC0-77A4-CF9E-85E8-FCEA1213A267}"/>
              </a:ext>
            </a:extLst>
          </p:cNvPr>
          <p:cNvSpPr/>
          <p:nvPr/>
        </p:nvSpPr>
        <p:spPr>
          <a:xfrm rot="10800000" flipH="1">
            <a:off x="10731650" y="2708787"/>
            <a:ext cx="226501" cy="4199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3" name="Rechteck 3">
            <a:extLst>
              <a:ext uri="{FF2B5EF4-FFF2-40B4-BE49-F238E27FC236}">
                <a16:creationId xmlns:a16="http://schemas.microsoft.com/office/drawing/2014/main" id="{85793E81-F4A6-A58C-12E7-6B0E8BC429A3}"/>
              </a:ext>
            </a:extLst>
          </p:cNvPr>
          <p:cNvSpPr/>
          <p:nvPr/>
        </p:nvSpPr>
        <p:spPr>
          <a:xfrm rot="16200000" flipH="1">
            <a:off x="11131727" y="2794608"/>
            <a:ext cx="259111" cy="10514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0CC9CFB-0FC0-9DAE-F050-D64B76FAD22C}"/>
              </a:ext>
            </a:extLst>
          </p:cNvPr>
          <p:cNvSpPr/>
          <p:nvPr/>
        </p:nvSpPr>
        <p:spPr>
          <a:xfrm rot="10800000">
            <a:off x="8150593" y="4509529"/>
            <a:ext cx="216133" cy="5569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5" name="Rechteck 3">
            <a:extLst>
              <a:ext uri="{FF2B5EF4-FFF2-40B4-BE49-F238E27FC236}">
                <a16:creationId xmlns:a16="http://schemas.microsoft.com/office/drawing/2014/main" id="{0FD94900-AA17-7CAA-5CEA-8F809FBCE62F}"/>
              </a:ext>
            </a:extLst>
          </p:cNvPr>
          <p:cNvSpPr/>
          <p:nvPr/>
        </p:nvSpPr>
        <p:spPr>
          <a:xfrm rot="5400000">
            <a:off x="8210746" y="5006333"/>
            <a:ext cx="293293" cy="413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7" name="Rechteck 3">
            <a:extLst>
              <a:ext uri="{FF2B5EF4-FFF2-40B4-BE49-F238E27FC236}">
                <a16:creationId xmlns:a16="http://schemas.microsoft.com/office/drawing/2014/main" id="{F58AA5C9-ADBD-FCE4-A4C4-60C03C169515}"/>
              </a:ext>
            </a:extLst>
          </p:cNvPr>
          <p:cNvSpPr/>
          <p:nvPr/>
        </p:nvSpPr>
        <p:spPr>
          <a:xfrm rot="10800000" flipH="1">
            <a:off x="9694923" y="4509529"/>
            <a:ext cx="216133" cy="5569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hteck 3">
            <a:extLst>
              <a:ext uri="{FF2B5EF4-FFF2-40B4-BE49-F238E27FC236}">
                <a16:creationId xmlns:a16="http://schemas.microsoft.com/office/drawing/2014/main" id="{A70CBCDB-6D3F-0D54-A5E8-98635AF2E2B1}"/>
              </a:ext>
            </a:extLst>
          </p:cNvPr>
          <p:cNvSpPr/>
          <p:nvPr/>
        </p:nvSpPr>
        <p:spPr>
          <a:xfrm rot="16200000" flipH="1">
            <a:off x="9557609" y="5006332"/>
            <a:ext cx="293293" cy="413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0" name="Rechteck 3">
            <a:extLst>
              <a:ext uri="{FF2B5EF4-FFF2-40B4-BE49-F238E27FC236}">
                <a16:creationId xmlns:a16="http://schemas.microsoft.com/office/drawing/2014/main" id="{50EBBDDF-5272-B71F-9277-D623FB0006B0}"/>
              </a:ext>
            </a:extLst>
          </p:cNvPr>
          <p:cNvSpPr/>
          <p:nvPr/>
        </p:nvSpPr>
        <p:spPr>
          <a:xfrm rot="10800000">
            <a:off x="10016266" y="4509529"/>
            <a:ext cx="216133" cy="5569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1" name="Rechteck 3">
            <a:extLst>
              <a:ext uri="{FF2B5EF4-FFF2-40B4-BE49-F238E27FC236}">
                <a16:creationId xmlns:a16="http://schemas.microsoft.com/office/drawing/2014/main" id="{BCB360A2-A2EF-418A-DA0D-A303E779E310}"/>
              </a:ext>
            </a:extLst>
          </p:cNvPr>
          <p:cNvSpPr/>
          <p:nvPr/>
        </p:nvSpPr>
        <p:spPr>
          <a:xfrm rot="10800000" flipH="1">
            <a:off x="11560597" y="4509529"/>
            <a:ext cx="216133" cy="5569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127A2BB6-EA11-4CE8-1755-2FF83A963F70}"/>
              </a:ext>
            </a:extLst>
          </p:cNvPr>
          <p:cNvSpPr/>
          <p:nvPr/>
        </p:nvSpPr>
        <p:spPr>
          <a:xfrm rot="10800000">
            <a:off x="4517452" y="4514880"/>
            <a:ext cx="197286" cy="6024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hteck 3">
            <a:extLst>
              <a:ext uri="{FF2B5EF4-FFF2-40B4-BE49-F238E27FC236}">
                <a16:creationId xmlns:a16="http://schemas.microsoft.com/office/drawing/2014/main" id="{115D13E5-19B8-0F72-41C7-7ECBEF1A864C}"/>
              </a:ext>
            </a:extLst>
          </p:cNvPr>
          <p:cNvSpPr/>
          <p:nvPr/>
        </p:nvSpPr>
        <p:spPr>
          <a:xfrm rot="5400000">
            <a:off x="5190541" y="4428076"/>
            <a:ext cx="258614" cy="1604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4" name="Rechteck 3">
            <a:extLst>
              <a:ext uri="{FF2B5EF4-FFF2-40B4-BE49-F238E27FC236}">
                <a16:creationId xmlns:a16="http://schemas.microsoft.com/office/drawing/2014/main" id="{BD6CBD8E-AA6C-9A7A-F36D-67F73A1C8631}"/>
              </a:ext>
            </a:extLst>
          </p:cNvPr>
          <p:cNvSpPr/>
          <p:nvPr/>
        </p:nvSpPr>
        <p:spPr>
          <a:xfrm rot="5400000">
            <a:off x="5191621" y="3622949"/>
            <a:ext cx="258616" cy="16069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5" name="Rechteck 3">
            <a:extLst>
              <a:ext uri="{FF2B5EF4-FFF2-40B4-BE49-F238E27FC236}">
                <a16:creationId xmlns:a16="http://schemas.microsoft.com/office/drawing/2014/main" id="{36C9EB3B-29D5-DD0D-CD66-B91826EF6E5A}"/>
              </a:ext>
            </a:extLst>
          </p:cNvPr>
          <p:cNvSpPr/>
          <p:nvPr/>
        </p:nvSpPr>
        <p:spPr>
          <a:xfrm rot="10800000" flipH="1">
            <a:off x="5927119" y="4514880"/>
            <a:ext cx="197286" cy="640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6" name="Rechteck 3">
            <a:extLst>
              <a:ext uri="{FF2B5EF4-FFF2-40B4-BE49-F238E27FC236}">
                <a16:creationId xmlns:a16="http://schemas.microsoft.com/office/drawing/2014/main" id="{F3BB2B42-E92E-8178-2B41-145E183701E0}"/>
              </a:ext>
            </a:extLst>
          </p:cNvPr>
          <p:cNvSpPr/>
          <p:nvPr/>
        </p:nvSpPr>
        <p:spPr>
          <a:xfrm rot="10800000">
            <a:off x="6220442" y="4514880"/>
            <a:ext cx="197286" cy="6322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8" name="Rechteck 3">
            <a:extLst>
              <a:ext uri="{FF2B5EF4-FFF2-40B4-BE49-F238E27FC236}">
                <a16:creationId xmlns:a16="http://schemas.microsoft.com/office/drawing/2014/main" id="{AE15CDE8-7BB1-F9F8-CE23-ECB6F51E2151}"/>
              </a:ext>
            </a:extLst>
          </p:cNvPr>
          <p:cNvSpPr/>
          <p:nvPr/>
        </p:nvSpPr>
        <p:spPr>
          <a:xfrm rot="10800000" flipH="1">
            <a:off x="7630109" y="4514880"/>
            <a:ext cx="197286" cy="7098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4874151-3A3D-3F38-35BB-FC6390A5241B}"/>
              </a:ext>
            </a:extLst>
          </p:cNvPr>
          <p:cNvSpPr/>
          <p:nvPr/>
        </p:nvSpPr>
        <p:spPr>
          <a:xfrm rot="10800000">
            <a:off x="8854898" y="4590988"/>
            <a:ext cx="173116" cy="4754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2E9FF49-4A22-FEBC-2C56-F414AA6DF370}"/>
              </a:ext>
            </a:extLst>
          </p:cNvPr>
          <p:cNvSpPr/>
          <p:nvPr/>
        </p:nvSpPr>
        <p:spPr>
          <a:xfrm rot="10800000">
            <a:off x="9027710" y="4590990"/>
            <a:ext cx="173116" cy="4754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3" name="Rechteck 3">
            <a:extLst>
              <a:ext uri="{FF2B5EF4-FFF2-40B4-BE49-F238E27FC236}">
                <a16:creationId xmlns:a16="http://schemas.microsoft.com/office/drawing/2014/main" id="{D3CFE0A2-474B-E8DC-A6F2-88DFABCDD132}"/>
              </a:ext>
            </a:extLst>
          </p:cNvPr>
          <p:cNvSpPr/>
          <p:nvPr/>
        </p:nvSpPr>
        <p:spPr>
          <a:xfrm rot="5400000">
            <a:off x="8887821" y="4811319"/>
            <a:ext cx="293293" cy="80362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4" name="Rechteck 3">
            <a:extLst>
              <a:ext uri="{FF2B5EF4-FFF2-40B4-BE49-F238E27FC236}">
                <a16:creationId xmlns:a16="http://schemas.microsoft.com/office/drawing/2014/main" id="{2E6EC130-6162-F5B9-0E93-309CF38F4242}"/>
              </a:ext>
            </a:extLst>
          </p:cNvPr>
          <p:cNvSpPr/>
          <p:nvPr/>
        </p:nvSpPr>
        <p:spPr>
          <a:xfrm rot="5400000">
            <a:off x="8210746" y="4237546"/>
            <a:ext cx="293293" cy="413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5" name="Rechteck 3">
            <a:extLst>
              <a:ext uri="{FF2B5EF4-FFF2-40B4-BE49-F238E27FC236}">
                <a16:creationId xmlns:a16="http://schemas.microsoft.com/office/drawing/2014/main" id="{40D669C9-0385-1B72-01A1-767DF34AEF88}"/>
              </a:ext>
            </a:extLst>
          </p:cNvPr>
          <p:cNvSpPr/>
          <p:nvPr/>
        </p:nvSpPr>
        <p:spPr>
          <a:xfrm rot="16200000" flipH="1">
            <a:off x="9557609" y="4237545"/>
            <a:ext cx="293293" cy="413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2" name="Rechteck 3">
            <a:extLst>
              <a:ext uri="{FF2B5EF4-FFF2-40B4-BE49-F238E27FC236}">
                <a16:creationId xmlns:a16="http://schemas.microsoft.com/office/drawing/2014/main" id="{6B6DEF7E-4312-FAA9-2A54-381DB0EA794F}"/>
              </a:ext>
            </a:extLst>
          </p:cNvPr>
          <p:cNvSpPr/>
          <p:nvPr/>
        </p:nvSpPr>
        <p:spPr>
          <a:xfrm rot="5400000">
            <a:off x="8887821" y="4042533"/>
            <a:ext cx="293293" cy="80362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3" name="Rechteck 3">
            <a:extLst>
              <a:ext uri="{FF2B5EF4-FFF2-40B4-BE49-F238E27FC236}">
                <a16:creationId xmlns:a16="http://schemas.microsoft.com/office/drawing/2014/main" id="{D761141E-EE44-783B-ACFC-79E72A82090C}"/>
              </a:ext>
            </a:extLst>
          </p:cNvPr>
          <p:cNvSpPr/>
          <p:nvPr/>
        </p:nvSpPr>
        <p:spPr>
          <a:xfrm rot="5400000">
            <a:off x="10076421" y="5006330"/>
            <a:ext cx="293293" cy="413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4" name="Rechteck 3">
            <a:extLst>
              <a:ext uri="{FF2B5EF4-FFF2-40B4-BE49-F238E27FC236}">
                <a16:creationId xmlns:a16="http://schemas.microsoft.com/office/drawing/2014/main" id="{C36A7B46-96AF-EE23-87EA-1EFC3D5663FD}"/>
              </a:ext>
            </a:extLst>
          </p:cNvPr>
          <p:cNvSpPr/>
          <p:nvPr/>
        </p:nvSpPr>
        <p:spPr>
          <a:xfrm rot="16200000" flipH="1">
            <a:off x="11423284" y="5006329"/>
            <a:ext cx="293293" cy="413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1E8B77C3-3231-E96E-6BC0-5FEC6361F896}"/>
              </a:ext>
            </a:extLst>
          </p:cNvPr>
          <p:cNvSpPr/>
          <p:nvPr/>
        </p:nvSpPr>
        <p:spPr>
          <a:xfrm rot="10800000">
            <a:off x="10720573" y="4590986"/>
            <a:ext cx="173116" cy="4754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D07759A9-8C91-71E1-A3C6-3ACAEFD5ECEA}"/>
              </a:ext>
            </a:extLst>
          </p:cNvPr>
          <p:cNvSpPr/>
          <p:nvPr/>
        </p:nvSpPr>
        <p:spPr>
          <a:xfrm rot="10800000">
            <a:off x="10893385" y="4590988"/>
            <a:ext cx="173116" cy="4754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8" name="Rechteck 3">
            <a:extLst>
              <a:ext uri="{FF2B5EF4-FFF2-40B4-BE49-F238E27FC236}">
                <a16:creationId xmlns:a16="http://schemas.microsoft.com/office/drawing/2014/main" id="{43FCBC6A-632D-7E2D-2297-EB5E4CD9FC47}"/>
              </a:ext>
            </a:extLst>
          </p:cNvPr>
          <p:cNvSpPr/>
          <p:nvPr/>
        </p:nvSpPr>
        <p:spPr>
          <a:xfrm rot="5400000">
            <a:off x="10753496" y="4811317"/>
            <a:ext cx="293293" cy="80362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9" name="Rechteck 3">
            <a:extLst>
              <a:ext uri="{FF2B5EF4-FFF2-40B4-BE49-F238E27FC236}">
                <a16:creationId xmlns:a16="http://schemas.microsoft.com/office/drawing/2014/main" id="{533DE56B-CF57-929F-82FD-5B0A430554BB}"/>
              </a:ext>
            </a:extLst>
          </p:cNvPr>
          <p:cNvSpPr/>
          <p:nvPr/>
        </p:nvSpPr>
        <p:spPr>
          <a:xfrm rot="5400000">
            <a:off x="10076421" y="4237543"/>
            <a:ext cx="293293" cy="413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hteck 3">
            <a:extLst>
              <a:ext uri="{FF2B5EF4-FFF2-40B4-BE49-F238E27FC236}">
                <a16:creationId xmlns:a16="http://schemas.microsoft.com/office/drawing/2014/main" id="{5385991D-F99F-5D88-DBC2-42CC465236EE}"/>
              </a:ext>
            </a:extLst>
          </p:cNvPr>
          <p:cNvSpPr/>
          <p:nvPr/>
        </p:nvSpPr>
        <p:spPr>
          <a:xfrm rot="16200000" flipH="1">
            <a:off x="11423284" y="4237542"/>
            <a:ext cx="293293" cy="413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2" name="Rechteck 3">
            <a:extLst>
              <a:ext uri="{FF2B5EF4-FFF2-40B4-BE49-F238E27FC236}">
                <a16:creationId xmlns:a16="http://schemas.microsoft.com/office/drawing/2014/main" id="{04BB31B7-EDBB-3639-C653-85169B29CDE0}"/>
              </a:ext>
            </a:extLst>
          </p:cNvPr>
          <p:cNvSpPr/>
          <p:nvPr/>
        </p:nvSpPr>
        <p:spPr>
          <a:xfrm rot="5400000">
            <a:off x="10753496" y="4042530"/>
            <a:ext cx="293293" cy="80362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715E209B-F5FB-4A54-AD78-73DB2ED6EAE6}"/>
              </a:ext>
            </a:extLst>
          </p:cNvPr>
          <p:cNvSpPr/>
          <p:nvPr/>
        </p:nvSpPr>
        <p:spPr>
          <a:xfrm rot="10800000">
            <a:off x="5149825" y="4619866"/>
            <a:ext cx="341382" cy="4191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4" name="Rechteck 3">
            <a:extLst>
              <a:ext uri="{FF2B5EF4-FFF2-40B4-BE49-F238E27FC236}">
                <a16:creationId xmlns:a16="http://schemas.microsoft.com/office/drawing/2014/main" id="{BF460946-67D7-EA98-D882-AC2A411AED28}"/>
              </a:ext>
            </a:extLst>
          </p:cNvPr>
          <p:cNvSpPr/>
          <p:nvPr/>
        </p:nvSpPr>
        <p:spPr>
          <a:xfrm rot="5400000">
            <a:off x="6894966" y="3618682"/>
            <a:ext cx="258616" cy="16069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63D1912E-0971-A03E-AB37-7E3FB87D400F}"/>
              </a:ext>
            </a:extLst>
          </p:cNvPr>
          <p:cNvSpPr/>
          <p:nvPr/>
        </p:nvSpPr>
        <p:spPr>
          <a:xfrm rot="10800000">
            <a:off x="6853171" y="4615599"/>
            <a:ext cx="341382" cy="4191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6" name="Rechteck 3">
            <a:extLst>
              <a:ext uri="{FF2B5EF4-FFF2-40B4-BE49-F238E27FC236}">
                <a16:creationId xmlns:a16="http://schemas.microsoft.com/office/drawing/2014/main" id="{3CFF13F3-DB6F-EE08-8909-4FDBC1AF84C1}"/>
              </a:ext>
            </a:extLst>
          </p:cNvPr>
          <p:cNvSpPr/>
          <p:nvPr/>
        </p:nvSpPr>
        <p:spPr>
          <a:xfrm rot="5400000">
            <a:off x="6895563" y="4428076"/>
            <a:ext cx="258614" cy="1604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7040CB44-7206-09EA-7221-B5399C591B12}"/>
              </a:ext>
            </a:extLst>
          </p:cNvPr>
          <p:cNvSpPr txBox="1"/>
          <p:nvPr/>
        </p:nvSpPr>
        <p:spPr>
          <a:xfrm>
            <a:off x="4517453" y="3449887"/>
            <a:ext cx="32942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(a) Double-PQ </a:t>
            </a:r>
            <a:r>
              <a:rPr lang="de-DE" sz="2000" dirty="0" err="1"/>
              <a:t>with</a:t>
            </a:r>
            <a:r>
              <a:rPr lang="de-DE" sz="2000" dirty="0"/>
              <a:t> Dual Air Gap</a:t>
            </a:r>
            <a:r>
              <a:rPr lang="de-DE" sz="2000" baseline="30000" dirty="0"/>
              <a:t>1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8873C624-DECE-F358-4285-26C30DA4887E}"/>
              </a:ext>
            </a:extLst>
          </p:cNvPr>
          <p:cNvSpPr txBox="1"/>
          <p:nvPr/>
        </p:nvSpPr>
        <p:spPr>
          <a:xfrm>
            <a:off x="8150593" y="3439548"/>
            <a:ext cx="3633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cs typeface="Times New Roman" panose="02020603050405020304" pitchFamily="18" charset="0"/>
              </a:rPr>
              <a:t>(b) </a:t>
            </a:r>
            <a:r>
              <a:rPr lang="de-DE" sz="2000" dirty="0" err="1">
                <a:cs typeface="Times New Roman" panose="02020603050405020304" pitchFamily="18" charset="0"/>
              </a:rPr>
              <a:t>Four</a:t>
            </a:r>
            <a:r>
              <a:rPr lang="de-DE" sz="2000" dirty="0">
                <a:cs typeface="Times New Roman" panose="02020603050405020304" pitchFamily="18" charset="0"/>
              </a:rPr>
              <a:t>-Pole </a:t>
            </a:r>
            <a:r>
              <a:rPr lang="de-DE" sz="2000" dirty="0" err="1"/>
              <a:t>with</a:t>
            </a:r>
            <a:r>
              <a:rPr lang="de-DE" sz="2000" dirty="0">
                <a:cs typeface="Times New Roman" panose="02020603050405020304" pitchFamily="18" charset="0"/>
              </a:rPr>
              <a:t> Dual Air Gap</a:t>
            </a:r>
            <a:r>
              <a:rPr lang="de-DE" sz="2000" baseline="30000" dirty="0">
                <a:cs typeface="Times New Roman" panose="02020603050405020304" pitchFamily="18" charset="0"/>
              </a:rPr>
              <a:t>2</a:t>
            </a:r>
            <a:endParaRPr lang="de-DE" sz="2000" dirty="0">
              <a:cs typeface="Times New Roman" panose="02020603050405020304" pitchFamily="18" charset="0"/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DEAADB8E-B504-2320-29E5-5C5235C100AD}"/>
              </a:ext>
            </a:extLst>
          </p:cNvPr>
          <p:cNvSpPr txBox="1"/>
          <p:nvPr/>
        </p:nvSpPr>
        <p:spPr>
          <a:xfrm>
            <a:off x="4517453" y="5359778"/>
            <a:ext cx="3294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cs typeface="Times New Roman" panose="02020603050405020304" pitchFamily="18" charset="0"/>
              </a:rPr>
              <a:t>(c) PQ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3DF62770-208E-B795-DDD3-14BAE35CDE57}"/>
              </a:ext>
            </a:extLst>
          </p:cNvPr>
          <p:cNvSpPr txBox="1"/>
          <p:nvPr/>
        </p:nvSpPr>
        <p:spPr>
          <a:xfrm>
            <a:off x="8150593" y="5359778"/>
            <a:ext cx="3626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cs typeface="Times New Roman" panose="02020603050405020304" pitchFamily="18" charset="0"/>
              </a:rPr>
              <a:t>(d) </a:t>
            </a:r>
            <a:r>
              <a:rPr lang="de-DE" sz="2000" dirty="0" err="1">
                <a:cs typeface="Times New Roman" panose="02020603050405020304" pitchFamily="18" charset="0"/>
              </a:rPr>
              <a:t>Vertical</a:t>
            </a:r>
            <a:r>
              <a:rPr lang="de-DE" sz="2000" dirty="0">
                <a:cs typeface="Times New Roman" panose="02020603050405020304" pitchFamily="18" charset="0"/>
              </a:rPr>
              <a:t> Gap</a:t>
            </a:r>
            <a:r>
              <a:rPr lang="de-DE" sz="2000" baseline="30000" dirty="0"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37CC6F39-0862-9A57-3B31-4D0FD19617BE}"/>
              </a:ext>
            </a:extLst>
          </p:cNvPr>
          <p:cNvSpPr txBox="1"/>
          <p:nvPr/>
        </p:nvSpPr>
        <p:spPr>
          <a:xfrm>
            <a:off x="7291101" y="5434835"/>
            <a:ext cx="1832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rgbClr val="00B050">
                    <a:alpha val="69000"/>
                  </a:srgbClr>
                </a:solidFill>
                <a:cs typeface="Times New Roman" panose="02020603050405020304" pitchFamily="18" charset="0"/>
              </a:rPr>
              <a:t>Additional Air Gap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5DE3EE32-706E-DB00-8CFD-601DFE657E3D}"/>
              </a:ext>
            </a:extLst>
          </p:cNvPr>
          <p:cNvSpPr/>
          <p:nvPr/>
        </p:nvSpPr>
        <p:spPr>
          <a:xfrm>
            <a:off x="7165675" y="5549428"/>
            <a:ext cx="178136" cy="76707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30CA07FB-8EFE-5255-4AEA-9948CCCB1AE7}"/>
              </a:ext>
            </a:extLst>
          </p:cNvPr>
          <p:cNvGrpSpPr/>
          <p:nvPr/>
        </p:nvGrpSpPr>
        <p:grpSpPr>
          <a:xfrm>
            <a:off x="5529563" y="4661289"/>
            <a:ext cx="349166" cy="344071"/>
            <a:chOff x="1559719" y="2843791"/>
            <a:chExt cx="502445" cy="512127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F8CDE3C3-375C-B6EF-516A-45C401D3780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0294F9FC-057B-8F47-0BF9-C6BD5777803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12B84866-DD46-8572-A2D3-4170A60C62B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EBA0E40D-85FB-ADF1-6512-8CAA21F374D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9910A7D3-036B-2629-EB19-FD85432F7B1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DBB6A2DD-7A16-A0B0-A28D-25D7F209DED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57327A82-08BB-BB24-41DB-31A9F2B6747D}"/>
              </a:ext>
            </a:extLst>
          </p:cNvPr>
          <p:cNvGrpSpPr/>
          <p:nvPr/>
        </p:nvGrpSpPr>
        <p:grpSpPr>
          <a:xfrm>
            <a:off x="4760075" y="4657620"/>
            <a:ext cx="349166" cy="344071"/>
            <a:chOff x="1559719" y="2843791"/>
            <a:chExt cx="502445" cy="512127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23A1E140-CB31-E405-0B8A-24C36EB6233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24D36706-257F-6212-9870-C3D438CCD8F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7F17E260-945F-7FFF-4C1A-0F4B143351D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9B95BF88-8CCF-48F6-DB6F-F87F13D0F29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2D2ED626-77E6-E76A-F1CE-11BF1A58521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760A88FF-A6B8-8002-654A-AC19426DC51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031C9F69-DB6B-9027-20AA-815EDBCB6A4C}"/>
              </a:ext>
            </a:extLst>
          </p:cNvPr>
          <p:cNvGrpSpPr/>
          <p:nvPr/>
        </p:nvGrpSpPr>
        <p:grpSpPr>
          <a:xfrm>
            <a:off x="4787154" y="2738402"/>
            <a:ext cx="349166" cy="344071"/>
            <a:chOff x="1559719" y="2843791"/>
            <a:chExt cx="502445" cy="512127"/>
          </a:xfrm>
        </p:grpSpPr>
        <p:cxnSp>
          <p:nvCxnSpPr>
            <p:cNvPr id="98" name="Gerader Verbinder 97">
              <a:extLst>
                <a:ext uri="{FF2B5EF4-FFF2-40B4-BE49-F238E27FC236}">
                  <a16:creationId xmlns:a16="http://schemas.microsoft.com/office/drawing/2014/main" id="{1BD8A9D5-4F56-7B09-2804-E89B73CCAFD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6F81FA80-9534-F108-14B3-08337E2FF25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99">
              <a:extLst>
                <a:ext uri="{FF2B5EF4-FFF2-40B4-BE49-F238E27FC236}">
                  <a16:creationId xmlns:a16="http://schemas.microsoft.com/office/drawing/2014/main" id="{296C8BA3-A96D-AF71-2E4C-18DA519ECB8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r Verbinder 100">
              <a:extLst>
                <a:ext uri="{FF2B5EF4-FFF2-40B4-BE49-F238E27FC236}">
                  <a16:creationId xmlns:a16="http://schemas.microsoft.com/office/drawing/2014/main" id="{CE94FB20-B13B-7862-CADD-347324697F3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r Verbinder 101">
              <a:extLst>
                <a:ext uri="{FF2B5EF4-FFF2-40B4-BE49-F238E27FC236}">
                  <a16:creationId xmlns:a16="http://schemas.microsoft.com/office/drawing/2014/main" id="{DC039557-A439-5EB8-D8C2-A0A9A1191FB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989815AE-2403-9F88-421E-64DFC54F6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26FB4F29-172D-203A-A12A-03834CEA04EA}"/>
              </a:ext>
            </a:extLst>
          </p:cNvPr>
          <p:cNvGrpSpPr/>
          <p:nvPr/>
        </p:nvGrpSpPr>
        <p:grpSpPr>
          <a:xfrm>
            <a:off x="5621174" y="2741280"/>
            <a:ext cx="349166" cy="344071"/>
            <a:chOff x="1559719" y="2843791"/>
            <a:chExt cx="502445" cy="512127"/>
          </a:xfrm>
        </p:grpSpPr>
        <p:cxnSp>
          <p:nvCxnSpPr>
            <p:cNvPr id="105" name="Gerader Verbinder 104">
              <a:extLst>
                <a:ext uri="{FF2B5EF4-FFF2-40B4-BE49-F238E27FC236}">
                  <a16:creationId xmlns:a16="http://schemas.microsoft.com/office/drawing/2014/main" id="{100380D3-1FD7-9A80-87B5-6BDF9A0378F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8A4E138E-C084-7541-39AD-C61FB87C38E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826485F4-C766-7FF2-EF83-9267C0C8A2B0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r Verbinder 107">
              <a:extLst>
                <a:ext uri="{FF2B5EF4-FFF2-40B4-BE49-F238E27FC236}">
                  <a16:creationId xmlns:a16="http://schemas.microsoft.com/office/drawing/2014/main" id="{891D3137-61EB-7B89-3C43-FEA959D1834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711C028D-4312-A318-C2EE-0A242D42F65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r Verbinder 109">
              <a:extLst>
                <a:ext uri="{FF2B5EF4-FFF2-40B4-BE49-F238E27FC236}">
                  <a16:creationId xmlns:a16="http://schemas.microsoft.com/office/drawing/2014/main" id="{69526310-4348-2671-21F9-5BF61B045F1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uppieren 110">
            <a:extLst>
              <a:ext uri="{FF2B5EF4-FFF2-40B4-BE49-F238E27FC236}">
                <a16:creationId xmlns:a16="http://schemas.microsoft.com/office/drawing/2014/main" id="{5EA9A030-DEE0-2F84-53E1-8A7C2C569276}"/>
              </a:ext>
            </a:extLst>
          </p:cNvPr>
          <p:cNvGrpSpPr/>
          <p:nvPr/>
        </p:nvGrpSpPr>
        <p:grpSpPr>
          <a:xfrm>
            <a:off x="8519110" y="2746747"/>
            <a:ext cx="349166" cy="344071"/>
            <a:chOff x="1559719" y="2843791"/>
            <a:chExt cx="502445" cy="512127"/>
          </a:xfrm>
        </p:grpSpPr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73934BD5-739F-EF8E-7766-7DEE22A9FA6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r Verbinder 112">
              <a:extLst>
                <a:ext uri="{FF2B5EF4-FFF2-40B4-BE49-F238E27FC236}">
                  <a16:creationId xmlns:a16="http://schemas.microsoft.com/office/drawing/2014/main" id="{E68D749C-8223-B05A-3854-C0AAEEDBB3C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r Verbinder 113">
              <a:extLst>
                <a:ext uri="{FF2B5EF4-FFF2-40B4-BE49-F238E27FC236}">
                  <a16:creationId xmlns:a16="http://schemas.microsoft.com/office/drawing/2014/main" id="{6DFDEA41-D980-EDCE-8A35-DC6C18D3F04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r Verbinder 114">
              <a:extLst>
                <a:ext uri="{FF2B5EF4-FFF2-40B4-BE49-F238E27FC236}">
                  <a16:creationId xmlns:a16="http://schemas.microsoft.com/office/drawing/2014/main" id="{0EC1C66F-FD30-5CC9-4838-509BE70D58E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E9C3E02E-3CB4-909C-6139-3499D7F339A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E6F4471D-9E0F-B530-6027-7FE38A6F580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9D2254E5-0540-C1BE-4382-F1B5EAD5C71D}"/>
              </a:ext>
            </a:extLst>
          </p:cNvPr>
          <p:cNvGrpSpPr/>
          <p:nvPr/>
        </p:nvGrpSpPr>
        <p:grpSpPr>
          <a:xfrm>
            <a:off x="9509924" y="2748358"/>
            <a:ext cx="349166" cy="344071"/>
            <a:chOff x="1559719" y="2843791"/>
            <a:chExt cx="502445" cy="512127"/>
          </a:xfrm>
        </p:grpSpPr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BE345B6F-5CFF-61C9-1747-61993B0FDC3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Gerader Verbinder 119">
              <a:extLst>
                <a:ext uri="{FF2B5EF4-FFF2-40B4-BE49-F238E27FC236}">
                  <a16:creationId xmlns:a16="http://schemas.microsoft.com/office/drawing/2014/main" id="{1C10D2B0-295E-BDA3-B300-4363C457FB7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Gerader Verbinder 120">
              <a:extLst>
                <a:ext uri="{FF2B5EF4-FFF2-40B4-BE49-F238E27FC236}">
                  <a16:creationId xmlns:a16="http://schemas.microsoft.com/office/drawing/2014/main" id="{0CDA99BC-3C93-CE71-50EA-113E3E1FE60E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38AC38CA-9CA1-BB50-7C51-913E9D47FF8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r Verbinder 122">
              <a:extLst>
                <a:ext uri="{FF2B5EF4-FFF2-40B4-BE49-F238E27FC236}">
                  <a16:creationId xmlns:a16="http://schemas.microsoft.com/office/drawing/2014/main" id="{8F121DE6-FDEE-79A7-CD0B-4014E30B866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Gerader Verbinder 123">
              <a:extLst>
                <a:ext uri="{FF2B5EF4-FFF2-40B4-BE49-F238E27FC236}">
                  <a16:creationId xmlns:a16="http://schemas.microsoft.com/office/drawing/2014/main" id="{1D8BC2AB-3CAC-E216-D8F6-EA6A2AA789A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A2931F7D-D72E-BC63-05DF-01F50EF399F6}"/>
              </a:ext>
            </a:extLst>
          </p:cNvPr>
          <p:cNvGrpSpPr/>
          <p:nvPr/>
        </p:nvGrpSpPr>
        <p:grpSpPr>
          <a:xfrm>
            <a:off x="8427604" y="4656625"/>
            <a:ext cx="349166" cy="344071"/>
            <a:chOff x="1559719" y="2843791"/>
            <a:chExt cx="502445" cy="512127"/>
          </a:xfrm>
        </p:grpSpPr>
        <p:cxnSp>
          <p:nvCxnSpPr>
            <p:cNvPr id="126" name="Gerader Verbinder 125">
              <a:extLst>
                <a:ext uri="{FF2B5EF4-FFF2-40B4-BE49-F238E27FC236}">
                  <a16:creationId xmlns:a16="http://schemas.microsoft.com/office/drawing/2014/main" id="{B37CAE7D-7BCC-E8C7-95CA-FA4251ED12A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r Verbinder 126">
              <a:extLst>
                <a:ext uri="{FF2B5EF4-FFF2-40B4-BE49-F238E27FC236}">
                  <a16:creationId xmlns:a16="http://schemas.microsoft.com/office/drawing/2014/main" id="{65A31202-4492-984D-214F-3405C375BB8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r Verbinder 127">
              <a:extLst>
                <a:ext uri="{FF2B5EF4-FFF2-40B4-BE49-F238E27FC236}">
                  <a16:creationId xmlns:a16="http://schemas.microsoft.com/office/drawing/2014/main" id="{05CEA746-D1F5-EF13-4AE3-F7822A69A51E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r Verbinder 128">
              <a:extLst>
                <a:ext uri="{FF2B5EF4-FFF2-40B4-BE49-F238E27FC236}">
                  <a16:creationId xmlns:a16="http://schemas.microsoft.com/office/drawing/2014/main" id="{279CEDCC-AC77-C5E0-1F99-7D7C7AF517B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r Verbinder 129">
              <a:extLst>
                <a:ext uri="{FF2B5EF4-FFF2-40B4-BE49-F238E27FC236}">
                  <a16:creationId xmlns:a16="http://schemas.microsoft.com/office/drawing/2014/main" id="{1ECCA64F-6AAD-D16C-BF13-E2BF656667F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Gerader Verbinder 130">
              <a:extLst>
                <a:ext uri="{FF2B5EF4-FFF2-40B4-BE49-F238E27FC236}">
                  <a16:creationId xmlns:a16="http://schemas.microsoft.com/office/drawing/2014/main" id="{EECDE26D-C4EF-B163-6076-AD6DA4D0A60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4E37B230-E433-E955-711C-117BDF789D61}"/>
              </a:ext>
            </a:extLst>
          </p:cNvPr>
          <p:cNvGrpSpPr/>
          <p:nvPr/>
        </p:nvGrpSpPr>
        <p:grpSpPr>
          <a:xfrm>
            <a:off x="9273291" y="4657423"/>
            <a:ext cx="349166" cy="344071"/>
            <a:chOff x="1559719" y="2843791"/>
            <a:chExt cx="502445" cy="512127"/>
          </a:xfrm>
        </p:grpSpPr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F095A5F8-A0DD-FC81-A21B-96965743E17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r Verbinder 133">
              <a:extLst>
                <a:ext uri="{FF2B5EF4-FFF2-40B4-BE49-F238E27FC236}">
                  <a16:creationId xmlns:a16="http://schemas.microsoft.com/office/drawing/2014/main" id="{5ADAD4D2-D77A-F698-72ED-66ACEE1B675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r Verbinder 134">
              <a:extLst>
                <a:ext uri="{FF2B5EF4-FFF2-40B4-BE49-F238E27FC236}">
                  <a16:creationId xmlns:a16="http://schemas.microsoft.com/office/drawing/2014/main" id="{AAFE1576-D8D9-79C1-0B1F-C54BFE779E50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E14B1D2D-A0BB-6474-01D4-BA83F71FB30E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Gerader Verbinder 136">
              <a:extLst>
                <a:ext uri="{FF2B5EF4-FFF2-40B4-BE49-F238E27FC236}">
                  <a16:creationId xmlns:a16="http://schemas.microsoft.com/office/drawing/2014/main" id="{3AE366A8-0D86-EE57-1A15-E66EEA2A035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FE34A83C-292E-0E72-0BD4-453DA89DCA1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F39B2C3C-133E-6A3C-FDEF-A609585CF06B}"/>
              </a:ext>
            </a:extLst>
          </p:cNvPr>
          <p:cNvGrpSpPr/>
          <p:nvPr/>
        </p:nvGrpSpPr>
        <p:grpSpPr>
          <a:xfrm>
            <a:off x="6358527" y="2746747"/>
            <a:ext cx="349166" cy="344071"/>
            <a:chOff x="1559719" y="2843791"/>
            <a:chExt cx="502445" cy="512127"/>
          </a:xfrm>
        </p:grpSpPr>
        <p:cxnSp>
          <p:nvCxnSpPr>
            <p:cNvPr id="140" name="Gerader Verbinder 139">
              <a:extLst>
                <a:ext uri="{FF2B5EF4-FFF2-40B4-BE49-F238E27FC236}">
                  <a16:creationId xmlns:a16="http://schemas.microsoft.com/office/drawing/2014/main" id="{15F43E05-6461-576D-E1AF-9193C13753CE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D22DA5C2-0206-91A0-C670-4B0C44E5D81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erader Verbinder 141">
              <a:extLst>
                <a:ext uri="{FF2B5EF4-FFF2-40B4-BE49-F238E27FC236}">
                  <a16:creationId xmlns:a16="http://schemas.microsoft.com/office/drawing/2014/main" id="{8D946497-49DE-ADB8-317A-A0894E88BCE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C5FAD029-D53F-502C-F6FA-441C7B8946A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erader Verbinder 143">
              <a:extLst>
                <a:ext uri="{FF2B5EF4-FFF2-40B4-BE49-F238E27FC236}">
                  <a16:creationId xmlns:a16="http://schemas.microsoft.com/office/drawing/2014/main" id="{554E3D8B-9B22-394B-3403-21C526D8FF2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erader Verbinder 144">
              <a:extLst>
                <a:ext uri="{FF2B5EF4-FFF2-40B4-BE49-F238E27FC236}">
                  <a16:creationId xmlns:a16="http://schemas.microsoft.com/office/drawing/2014/main" id="{C8FF345A-80B5-B1A5-2BA8-35C52F16F4B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3E050155-B457-47B0-5AE6-6FABE39A326C}"/>
              </a:ext>
            </a:extLst>
          </p:cNvPr>
          <p:cNvGrpSpPr/>
          <p:nvPr/>
        </p:nvGrpSpPr>
        <p:grpSpPr>
          <a:xfrm>
            <a:off x="7192837" y="2749606"/>
            <a:ext cx="349166" cy="344071"/>
            <a:chOff x="1559719" y="2843791"/>
            <a:chExt cx="502445" cy="512127"/>
          </a:xfrm>
        </p:grpSpPr>
        <p:cxnSp>
          <p:nvCxnSpPr>
            <p:cNvPr id="147" name="Gerader Verbinder 146">
              <a:extLst>
                <a:ext uri="{FF2B5EF4-FFF2-40B4-BE49-F238E27FC236}">
                  <a16:creationId xmlns:a16="http://schemas.microsoft.com/office/drawing/2014/main" id="{EEFD345C-7C7C-1202-4813-B7A2526B69F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Gerader Verbinder 147">
              <a:extLst>
                <a:ext uri="{FF2B5EF4-FFF2-40B4-BE49-F238E27FC236}">
                  <a16:creationId xmlns:a16="http://schemas.microsoft.com/office/drawing/2014/main" id="{9FFD79C3-421C-BB3E-25BC-6744401EE9C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r Verbinder 148">
              <a:extLst>
                <a:ext uri="{FF2B5EF4-FFF2-40B4-BE49-F238E27FC236}">
                  <a16:creationId xmlns:a16="http://schemas.microsoft.com/office/drawing/2014/main" id="{5103CB31-D87A-1A82-03CB-5DE7FDD3895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r Verbinder 149">
              <a:extLst>
                <a:ext uri="{FF2B5EF4-FFF2-40B4-BE49-F238E27FC236}">
                  <a16:creationId xmlns:a16="http://schemas.microsoft.com/office/drawing/2014/main" id="{10969F72-1B1B-0151-E13E-CC8A5879799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Gerader Verbinder 150">
              <a:extLst>
                <a:ext uri="{FF2B5EF4-FFF2-40B4-BE49-F238E27FC236}">
                  <a16:creationId xmlns:a16="http://schemas.microsoft.com/office/drawing/2014/main" id="{172D36F0-C479-CD0F-97AF-422649EC2F7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Gerader Verbinder 151">
              <a:extLst>
                <a:ext uri="{FF2B5EF4-FFF2-40B4-BE49-F238E27FC236}">
                  <a16:creationId xmlns:a16="http://schemas.microsoft.com/office/drawing/2014/main" id="{4720A352-19A0-F559-0C37-45C2DC7652C0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uppieren 152">
            <a:extLst>
              <a:ext uri="{FF2B5EF4-FFF2-40B4-BE49-F238E27FC236}">
                <a16:creationId xmlns:a16="http://schemas.microsoft.com/office/drawing/2014/main" id="{E0236442-DE3F-81E8-C6DC-FE3AD74700B1}"/>
              </a:ext>
            </a:extLst>
          </p:cNvPr>
          <p:cNvGrpSpPr/>
          <p:nvPr/>
        </p:nvGrpSpPr>
        <p:grpSpPr>
          <a:xfrm>
            <a:off x="6460809" y="4663260"/>
            <a:ext cx="349166" cy="344071"/>
            <a:chOff x="1559719" y="2843791"/>
            <a:chExt cx="502445" cy="512127"/>
          </a:xfrm>
        </p:grpSpPr>
        <p:cxnSp>
          <p:nvCxnSpPr>
            <p:cNvPr id="154" name="Gerader Verbinder 153">
              <a:extLst>
                <a:ext uri="{FF2B5EF4-FFF2-40B4-BE49-F238E27FC236}">
                  <a16:creationId xmlns:a16="http://schemas.microsoft.com/office/drawing/2014/main" id="{E8E061FC-52FC-1B41-C6BE-74AE39517E3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DF446667-003C-1BD6-994C-1FA52BCCE3C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D35E5548-8FB9-12C7-6009-85399C514B1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r Verbinder 156">
              <a:extLst>
                <a:ext uri="{FF2B5EF4-FFF2-40B4-BE49-F238E27FC236}">
                  <a16:creationId xmlns:a16="http://schemas.microsoft.com/office/drawing/2014/main" id="{F2F95387-2A54-1642-9AEB-E18FE396E2A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Gerader Verbinder 157">
              <a:extLst>
                <a:ext uri="{FF2B5EF4-FFF2-40B4-BE49-F238E27FC236}">
                  <a16:creationId xmlns:a16="http://schemas.microsoft.com/office/drawing/2014/main" id="{7064C105-3F8F-83E5-0046-F660E161FBF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Gerader Verbinder 158">
              <a:extLst>
                <a:ext uri="{FF2B5EF4-FFF2-40B4-BE49-F238E27FC236}">
                  <a16:creationId xmlns:a16="http://schemas.microsoft.com/office/drawing/2014/main" id="{46C1BDAA-2BFF-D880-5744-EECB3E5FBE4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uppieren 159">
            <a:extLst>
              <a:ext uri="{FF2B5EF4-FFF2-40B4-BE49-F238E27FC236}">
                <a16:creationId xmlns:a16="http://schemas.microsoft.com/office/drawing/2014/main" id="{183ED030-3ABF-126A-775A-A001FF4C51B6}"/>
              </a:ext>
            </a:extLst>
          </p:cNvPr>
          <p:cNvGrpSpPr/>
          <p:nvPr/>
        </p:nvGrpSpPr>
        <p:grpSpPr>
          <a:xfrm>
            <a:off x="7237747" y="4665387"/>
            <a:ext cx="349166" cy="344071"/>
            <a:chOff x="1559719" y="2843791"/>
            <a:chExt cx="502445" cy="512127"/>
          </a:xfrm>
        </p:grpSpPr>
        <p:cxnSp>
          <p:nvCxnSpPr>
            <p:cNvPr id="161" name="Gerader Verbinder 160">
              <a:extLst>
                <a:ext uri="{FF2B5EF4-FFF2-40B4-BE49-F238E27FC236}">
                  <a16:creationId xmlns:a16="http://schemas.microsoft.com/office/drawing/2014/main" id="{798E2D42-56AA-D12B-6069-D93DD8BC619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Gerader Verbinder 161">
              <a:extLst>
                <a:ext uri="{FF2B5EF4-FFF2-40B4-BE49-F238E27FC236}">
                  <a16:creationId xmlns:a16="http://schemas.microsoft.com/office/drawing/2014/main" id="{4BB12C2E-0955-7A99-9AE3-CD50355F935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Gerader Verbinder 162">
              <a:extLst>
                <a:ext uri="{FF2B5EF4-FFF2-40B4-BE49-F238E27FC236}">
                  <a16:creationId xmlns:a16="http://schemas.microsoft.com/office/drawing/2014/main" id="{5DE0D0FC-DE04-3410-4408-C2A82D478EB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Gerader Verbinder 163">
              <a:extLst>
                <a:ext uri="{FF2B5EF4-FFF2-40B4-BE49-F238E27FC236}">
                  <a16:creationId xmlns:a16="http://schemas.microsoft.com/office/drawing/2014/main" id="{5BD1EDC9-58EF-47AF-F0FB-337F3B51670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Gerader Verbinder 164">
              <a:extLst>
                <a:ext uri="{FF2B5EF4-FFF2-40B4-BE49-F238E27FC236}">
                  <a16:creationId xmlns:a16="http://schemas.microsoft.com/office/drawing/2014/main" id="{D411D872-D718-4C23-074C-4905AC00790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Gerader Verbinder 165">
              <a:extLst>
                <a:ext uri="{FF2B5EF4-FFF2-40B4-BE49-F238E27FC236}">
                  <a16:creationId xmlns:a16="http://schemas.microsoft.com/office/drawing/2014/main" id="{C560B269-8F58-B88E-A1C6-D2993D5E7EA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AF165513-25B2-5F7A-1DDF-47D35F1ABEA9}"/>
              </a:ext>
            </a:extLst>
          </p:cNvPr>
          <p:cNvGrpSpPr/>
          <p:nvPr/>
        </p:nvGrpSpPr>
        <p:grpSpPr>
          <a:xfrm>
            <a:off x="10065420" y="2747764"/>
            <a:ext cx="349166" cy="344071"/>
            <a:chOff x="1559719" y="2843791"/>
            <a:chExt cx="502445" cy="512127"/>
          </a:xfrm>
        </p:grpSpPr>
        <p:cxnSp>
          <p:nvCxnSpPr>
            <p:cNvPr id="168" name="Gerader Verbinder 167">
              <a:extLst>
                <a:ext uri="{FF2B5EF4-FFF2-40B4-BE49-F238E27FC236}">
                  <a16:creationId xmlns:a16="http://schemas.microsoft.com/office/drawing/2014/main" id="{88D67C54-F2AD-AE99-E4EC-0B374B17F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Gerader Verbinder 168">
              <a:extLst>
                <a:ext uri="{FF2B5EF4-FFF2-40B4-BE49-F238E27FC236}">
                  <a16:creationId xmlns:a16="http://schemas.microsoft.com/office/drawing/2014/main" id="{7EAA1BF4-222F-5959-6A2E-38459719C36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Gerader Verbinder 169">
              <a:extLst>
                <a:ext uri="{FF2B5EF4-FFF2-40B4-BE49-F238E27FC236}">
                  <a16:creationId xmlns:a16="http://schemas.microsoft.com/office/drawing/2014/main" id="{60C94074-D17A-5959-A2FE-8F4804C64FF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r Verbinder 170">
              <a:extLst>
                <a:ext uri="{FF2B5EF4-FFF2-40B4-BE49-F238E27FC236}">
                  <a16:creationId xmlns:a16="http://schemas.microsoft.com/office/drawing/2014/main" id="{A0FC602F-3CB2-E5EB-0798-EA6ED1DFA34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Gerader Verbinder 171">
              <a:extLst>
                <a:ext uri="{FF2B5EF4-FFF2-40B4-BE49-F238E27FC236}">
                  <a16:creationId xmlns:a16="http://schemas.microsoft.com/office/drawing/2014/main" id="{FFCD0B18-40F2-6F15-FDD0-7B8333F22B9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Gerader Verbinder 172">
              <a:extLst>
                <a:ext uri="{FF2B5EF4-FFF2-40B4-BE49-F238E27FC236}">
                  <a16:creationId xmlns:a16="http://schemas.microsoft.com/office/drawing/2014/main" id="{2EABDF89-5E6E-669A-2768-6742B81EDCF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uppieren 173">
            <a:extLst>
              <a:ext uri="{FF2B5EF4-FFF2-40B4-BE49-F238E27FC236}">
                <a16:creationId xmlns:a16="http://schemas.microsoft.com/office/drawing/2014/main" id="{C89C9919-97DC-6B95-403B-5A5F9C18E05C}"/>
              </a:ext>
            </a:extLst>
          </p:cNvPr>
          <p:cNvGrpSpPr/>
          <p:nvPr/>
        </p:nvGrpSpPr>
        <p:grpSpPr>
          <a:xfrm>
            <a:off x="11038123" y="2739816"/>
            <a:ext cx="349166" cy="344071"/>
            <a:chOff x="1559719" y="2843791"/>
            <a:chExt cx="502445" cy="512127"/>
          </a:xfrm>
        </p:grpSpPr>
        <p:cxnSp>
          <p:nvCxnSpPr>
            <p:cNvPr id="175" name="Gerader Verbinder 174">
              <a:extLst>
                <a:ext uri="{FF2B5EF4-FFF2-40B4-BE49-F238E27FC236}">
                  <a16:creationId xmlns:a16="http://schemas.microsoft.com/office/drawing/2014/main" id="{03C0633F-0A3B-2981-AC94-7147DB5DF43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Gerader Verbinder 175">
              <a:extLst>
                <a:ext uri="{FF2B5EF4-FFF2-40B4-BE49-F238E27FC236}">
                  <a16:creationId xmlns:a16="http://schemas.microsoft.com/office/drawing/2014/main" id="{89277BF1-E350-A054-535B-E7AEF2A14E3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Gerader Verbinder 176">
              <a:extLst>
                <a:ext uri="{FF2B5EF4-FFF2-40B4-BE49-F238E27FC236}">
                  <a16:creationId xmlns:a16="http://schemas.microsoft.com/office/drawing/2014/main" id="{484AD4EA-354A-F8D1-6B97-1E3CDD78994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Gerader Verbinder 177">
              <a:extLst>
                <a:ext uri="{FF2B5EF4-FFF2-40B4-BE49-F238E27FC236}">
                  <a16:creationId xmlns:a16="http://schemas.microsoft.com/office/drawing/2014/main" id="{C39B1803-CC62-099D-0B69-1BC401CEB06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Gerader Verbinder 178">
              <a:extLst>
                <a:ext uri="{FF2B5EF4-FFF2-40B4-BE49-F238E27FC236}">
                  <a16:creationId xmlns:a16="http://schemas.microsoft.com/office/drawing/2014/main" id="{0F183835-649B-170B-8184-33051646689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Gerader Verbinder 179">
              <a:extLst>
                <a:ext uri="{FF2B5EF4-FFF2-40B4-BE49-F238E27FC236}">
                  <a16:creationId xmlns:a16="http://schemas.microsoft.com/office/drawing/2014/main" id="{1B17B4ED-BB90-8F54-8931-0E91F0C7D30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uppieren 180">
            <a:extLst>
              <a:ext uri="{FF2B5EF4-FFF2-40B4-BE49-F238E27FC236}">
                <a16:creationId xmlns:a16="http://schemas.microsoft.com/office/drawing/2014/main" id="{3DF9F259-627C-2449-B07D-4BB0A421FA4F}"/>
              </a:ext>
            </a:extLst>
          </p:cNvPr>
          <p:cNvGrpSpPr/>
          <p:nvPr/>
        </p:nvGrpSpPr>
        <p:grpSpPr>
          <a:xfrm>
            <a:off x="10297171" y="4654909"/>
            <a:ext cx="349166" cy="344071"/>
            <a:chOff x="1559719" y="2843791"/>
            <a:chExt cx="502445" cy="512127"/>
          </a:xfrm>
        </p:grpSpPr>
        <p:cxnSp>
          <p:nvCxnSpPr>
            <p:cNvPr id="182" name="Gerader Verbinder 181">
              <a:extLst>
                <a:ext uri="{FF2B5EF4-FFF2-40B4-BE49-F238E27FC236}">
                  <a16:creationId xmlns:a16="http://schemas.microsoft.com/office/drawing/2014/main" id="{00D8C352-218C-54E6-48F2-9F4F778B50A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Gerader Verbinder 182">
              <a:extLst>
                <a:ext uri="{FF2B5EF4-FFF2-40B4-BE49-F238E27FC236}">
                  <a16:creationId xmlns:a16="http://schemas.microsoft.com/office/drawing/2014/main" id="{40830B9F-748A-F31A-9418-8179CC31BCF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Gerader Verbinder 183">
              <a:extLst>
                <a:ext uri="{FF2B5EF4-FFF2-40B4-BE49-F238E27FC236}">
                  <a16:creationId xmlns:a16="http://schemas.microsoft.com/office/drawing/2014/main" id="{E5414145-9D1F-CB6A-8FE9-A9F17D3923E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Gerader Verbinder 184">
              <a:extLst>
                <a:ext uri="{FF2B5EF4-FFF2-40B4-BE49-F238E27FC236}">
                  <a16:creationId xmlns:a16="http://schemas.microsoft.com/office/drawing/2014/main" id="{4060237A-FE73-E67E-6831-B186CE3BA33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Gerader Verbinder 185">
              <a:extLst>
                <a:ext uri="{FF2B5EF4-FFF2-40B4-BE49-F238E27FC236}">
                  <a16:creationId xmlns:a16="http://schemas.microsoft.com/office/drawing/2014/main" id="{25A4497D-2620-DA40-5B27-3D95B5B2D9E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Gerader Verbinder 186">
              <a:extLst>
                <a:ext uri="{FF2B5EF4-FFF2-40B4-BE49-F238E27FC236}">
                  <a16:creationId xmlns:a16="http://schemas.microsoft.com/office/drawing/2014/main" id="{55E36660-C03E-419C-7D3C-E176AF7DEEF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Gruppieren 187">
            <a:extLst>
              <a:ext uri="{FF2B5EF4-FFF2-40B4-BE49-F238E27FC236}">
                <a16:creationId xmlns:a16="http://schemas.microsoft.com/office/drawing/2014/main" id="{91501519-1A07-DA0F-23A1-366EE70A6C3F}"/>
              </a:ext>
            </a:extLst>
          </p:cNvPr>
          <p:cNvGrpSpPr/>
          <p:nvPr/>
        </p:nvGrpSpPr>
        <p:grpSpPr>
          <a:xfrm>
            <a:off x="11138965" y="4647355"/>
            <a:ext cx="349166" cy="344071"/>
            <a:chOff x="1559719" y="2843791"/>
            <a:chExt cx="502445" cy="512127"/>
          </a:xfrm>
        </p:grpSpPr>
        <p:cxnSp>
          <p:nvCxnSpPr>
            <p:cNvPr id="189" name="Gerader Verbinder 188">
              <a:extLst>
                <a:ext uri="{FF2B5EF4-FFF2-40B4-BE49-F238E27FC236}">
                  <a16:creationId xmlns:a16="http://schemas.microsoft.com/office/drawing/2014/main" id="{5C57E762-36A5-1E9E-0C7F-E1E640209D4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Gerader Verbinder 189">
              <a:extLst>
                <a:ext uri="{FF2B5EF4-FFF2-40B4-BE49-F238E27FC236}">
                  <a16:creationId xmlns:a16="http://schemas.microsoft.com/office/drawing/2014/main" id="{2D20F2BA-A07C-C694-2D25-B7299AE4027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Gerader Verbinder 190">
              <a:extLst>
                <a:ext uri="{FF2B5EF4-FFF2-40B4-BE49-F238E27FC236}">
                  <a16:creationId xmlns:a16="http://schemas.microsoft.com/office/drawing/2014/main" id="{5679C1AD-C064-8F2B-4FFE-8B90CBBC264E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Gerader Verbinder 191">
              <a:extLst>
                <a:ext uri="{FF2B5EF4-FFF2-40B4-BE49-F238E27FC236}">
                  <a16:creationId xmlns:a16="http://schemas.microsoft.com/office/drawing/2014/main" id="{CEB9D25D-5272-F6B4-2E08-51F9F0BD584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Gerader Verbinder 192">
              <a:extLst>
                <a:ext uri="{FF2B5EF4-FFF2-40B4-BE49-F238E27FC236}">
                  <a16:creationId xmlns:a16="http://schemas.microsoft.com/office/drawing/2014/main" id="{BD5BA3D7-BD93-4D74-0217-85EBD15A85F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Gerader Verbinder 193">
              <a:extLst>
                <a:ext uri="{FF2B5EF4-FFF2-40B4-BE49-F238E27FC236}">
                  <a16:creationId xmlns:a16="http://schemas.microsoft.com/office/drawing/2014/main" id="{855BDAD9-F3BD-1124-F954-8AD2AD960F1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5" name="Ellipse 194">
            <a:extLst>
              <a:ext uri="{FF2B5EF4-FFF2-40B4-BE49-F238E27FC236}">
                <a16:creationId xmlns:a16="http://schemas.microsoft.com/office/drawing/2014/main" id="{83FF991E-9725-0830-CFE1-BD3EFA8A5CD8}"/>
              </a:ext>
            </a:extLst>
          </p:cNvPr>
          <p:cNvSpPr/>
          <p:nvPr/>
        </p:nvSpPr>
        <p:spPr>
          <a:xfrm>
            <a:off x="5149826" y="3051385"/>
            <a:ext cx="465630" cy="179010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A5C5F4CB-2A50-BB35-7507-BBF9198E2BD3}"/>
              </a:ext>
            </a:extLst>
          </p:cNvPr>
          <p:cNvSpPr/>
          <p:nvPr/>
        </p:nvSpPr>
        <p:spPr>
          <a:xfrm>
            <a:off x="6712928" y="3039274"/>
            <a:ext cx="465630" cy="179010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7" name="Ellipse 196">
            <a:extLst>
              <a:ext uri="{FF2B5EF4-FFF2-40B4-BE49-F238E27FC236}">
                <a16:creationId xmlns:a16="http://schemas.microsoft.com/office/drawing/2014/main" id="{63A35C3C-923E-965B-36FD-AD48EF63B0CD}"/>
              </a:ext>
            </a:extLst>
          </p:cNvPr>
          <p:cNvSpPr/>
          <p:nvPr/>
        </p:nvSpPr>
        <p:spPr>
          <a:xfrm>
            <a:off x="8930397" y="3050610"/>
            <a:ext cx="532578" cy="179010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37BA2942-918F-1EF5-A095-D931A1005A21}"/>
              </a:ext>
            </a:extLst>
          </p:cNvPr>
          <p:cNvSpPr/>
          <p:nvPr/>
        </p:nvSpPr>
        <p:spPr>
          <a:xfrm>
            <a:off x="10472858" y="3044793"/>
            <a:ext cx="532578" cy="179010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9C052A0E-3B11-2214-DFCE-BC7C7B064585}"/>
              </a:ext>
            </a:extLst>
          </p:cNvPr>
          <p:cNvSpPr/>
          <p:nvPr/>
        </p:nvSpPr>
        <p:spPr>
          <a:xfrm>
            <a:off x="6791579" y="4964955"/>
            <a:ext cx="465630" cy="179010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0810FCBD-CF63-F47D-2ECF-5983A55664C7}"/>
              </a:ext>
            </a:extLst>
          </p:cNvPr>
          <p:cNvSpPr/>
          <p:nvPr/>
        </p:nvSpPr>
        <p:spPr>
          <a:xfrm>
            <a:off x="5084020" y="4964955"/>
            <a:ext cx="465630" cy="179010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1" name="Inhaltsplatzhalter 8">
            <a:extLst>
              <a:ext uri="{FF2B5EF4-FFF2-40B4-BE49-F238E27FC236}">
                <a16:creationId xmlns:a16="http://schemas.microsoft.com/office/drawing/2014/main" id="{8D29C8D1-FF81-3EDB-3781-F1C4F08BB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486" y="187221"/>
            <a:ext cx="3001692" cy="89274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pic>
        <p:nvPicPr>
          <p:cNvPr id="222" name="Grafik 221">
            <a:extLst>
              <a:ext uri="{FF2B5EF4-FFF2-40B4-BE49-F238E27FC236}">
                <a16:creationId xmlns:a16="http://schemas.microsoft.com/office/drawing/2014/main" id="{D653C9FB-9782-E04F-BE0B-9D0F337AF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683" y="1192048"/>
            <a:ext cx="2169955" cy="1122452"/>
          </a:xfrm>
          <a:prstGeom prst="rect">
            <a:avLst/>
          </a:prstGeom>
        </p:spPr>
      </p:pic>
      <p:pic>
        <p:nvPicPr>
          <p:cNvPr id="223" name="Grafik 222">
            <a:extLst>
              <a:ext uri="{FF2B5EF4-FFF2-40B4-BE49-F238E27FC236}">
                <a16:creationId xmlns:a16="http://schemas.microsoft.com/office/drawing/2014/main" id="{F566F407-171B-FB86-CF3D-00E301633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604" y="1129274"/>
            <a:ext cx="2048333" cy="119470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FB4E3AA-69E3-F4A2-18FB-58315734A456}"/>
              </a:ext>
            </a:extLst>
          </p:cNvPr>
          <p:cNvSpPr txBox="1"/>
          <p:nvPr/>
        </p:nvSpPr>
        <p:spPr>
          <a:xfrm>
            <a:off x="2143378" y="6236792"/>
            <a:ext cx="100486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/>
              <a:t>[1] </a:t>
            </a:r>
            <a:r>
              <a:rPr lang="en-US" sz="1050" dirty="0"/>
              <a:t>S. Wang et al. “PCB Winding-Based Coupled Inductor for a High-Frequency DC/DC Converter with 99% Efficiency” Mar. 2023</a:t>
            </a:r>
          </a:p>
          <a:p>
            <a:r>
              <a:rPr lang="en-US" sz="1050" dirty="0"/>
              <a:t>[2] </a:t>
            </a:r>
            <a:r>
              <a:rPr lang="de-DE" sz="1050" dirty="0"/>
              <a:t>M. Hua </a:t>
            </a:r>
            <a:r>
              <a:rPr lang="en-US" sz="1050" dirty="0"/>
              <a:t>et al. </a:t>
            </a:r>
            <a:r>
              <a:rPr lang="de-DE" sz="1050" dirty="0"/>
              <a:t>“Ultra-</a:t>
            </a:r>
            <a:r>
              <a:rPr lang="de-DE" sz="1050" dirty="0" err="1"/>
              <a:t>thin</a:t>
            </a:r>
            <a:r>
              <a:rPr lang="de-DE" sz="1050" dirty="0"/>
              <a:t> </a:t>
            </a:r>
            <a:r>
              <a:rPr lang="de-DE" sz="1050" dirty="0" err="1"/>
              <a:t>Coupled</a:t>
            </a:r>
            <a:r>
              <a:rPr lang="de-DE" sz="1050" dirty="0"/>
              <a:t> </a:t>
            </a:r>
            <a:r>
              <a:rPr lang="de-DE" sz="1050" dirty="0" err="1"/>
              <a:t>Inductor</a:t>
            </a:r>
            <a:r>
              <a:rPr lang="de-DE" sz="1050" dirty="0"/>
              <a:t> </a:t>
            </a:r>
            <a:r>
              <a:rPr lang="de-DE" sz="1050" dirty="0" err="1"/>
              <a:t>for</a:t>
            </a:r>
            <a:r>
              <a:rPr lang="de-DE" sz="1050" dirty="0"/>
              <a:t> a </a:t>
            </a:r>
            <a:r>
              <a:rPr lang="de-DE" sz="1050" dirty="0" err="1"/>
              <a:t>GaN-Based</a:t>
            </a:r>
            <a:r>
              <a:rPr lang="de-DE" sz="1050" dirty="0"/>
              <a:t> CRM Buck Converter” Aug. 2021</a:t>
            </a:r>
          </a:p>
          <a:p>
            <a:r>
              <a:rPr lang="de-DE" sz="1050" dirty="0"/>
              <a:t>[3] J. Schäfer </a:t>
            </a:r>
            <a:r>
              <a:rPr lang="en-US" sz="1050" dirty="0"/>
              <a:t>et al.</a:t>
            </a:r>
            <a:r>
              <a:rPr lang="de-DE" sz="1050" dirty="0"/>
              <a:t> “</a:t>
            </a:r>
            <a:r>
              <a:rPr lang="de-DE" sz="1050" dirty="0" err="1"/>
              <a:t>Novel</a:t>
            </a:r>
            <a:r>
              <a:rPr lang="de-DE" sz="1050" dirty="0"/>
              <a:t> </a:t>
            </a:r>
            <a:r>
              <a:rPr lang="de-DE" sz="1050" dirty="0" err="1"/>
              <a:t>Highly</a:t>
            </a:r>
            <a:r>
              <a:rPr lang="de-DE" sz="1050" dirty="0"/>
              <a:t> </a:t>
            </a:r>
            <a:r>
              <a:rPr lang="de-DE" sz="1050" dirty="0" err="1"/>
              <a:t>Efficient</a:t>
            </a:r>
            <a:r>
              <a:rPr lang="de-DE" sz="1050" dirty="0"/>
              <a:t>/Compact Automotive PCB Winding </a:t>
            </a:r>
            <a:r>
              <a:rPr lang="de-DE" sz="1050" dirty="0" err="1"/>
              <a:t>Inductors</a:t>
            </a:r>
            <a:r>
              <a:rPr lang="de-DE" sz="1050" dirty="0"/>
              <a:t> </a:t>
            </a:r>
            <a:r>
              <a:rPr lang="de-DE" sz="1050" dirty="0" err="1"/>
              <a:t>Based</a:t>
            </a:r>
            <a:r>
              <a:rPr lang="de-DE" sz="1050" dirty="0"/>
              <a:t> on </a:t>
            </a:r>
            <a:r>
              <a:rPr lang="de-DE" sz="1050" dirty="0" err="1"/>
              <a:t>the</a:t>
            </a:r>
            <a:r>
              <a:rPr lang="de-DE" sz="1050" dirty="0"/>
              <a:t> </a:t>
            </a:r>
            <a:r>
              <a:rPr lang="de-DE" sz="1050" dirty="0" err="1"/>
              <a:t>Compensating</a:t>
            </a:r>
            <a:r>
              <a:rPr lang="de-DE" sz="1050" dirty="0"/>
              <a:t> Air-Gap </a:t>
            </a:r>
            <a:r>
              <a:rPr lang="de-DE" sz="1050" dirty="0" err="1"/>
              <a:t>Fringing</a:t>
            </a:r>
            <a:r>
              <a:rPr lang="de-DE" sz="1050" dirty="0"/>
              <a:t> Field Concept” Sep. 2020</a:t>
            </a:r>
          </a:p>
          <a:p>
            <a:endParaRPr lang="de-DE" sz="1050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662DDAA-35E3-DE31-CDAE-83B223499F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540"/>
          <a:stretch>
            <a:fillRect/>
          </a:stretch>
        </p:blipFill>
        <p:spPr>
          <a:xfrm>
            <a:off x="10958151" y="5545128"/>
            <a:ext cx="1012668" cy="787304"/>
          </a:xfrm>
          <a:prstGeom prst="rect">
            <a:avLst/>
          </a:prstGeom>
        </p:spPr>
      </p:pic>
      <p:pic>
        <p:nvPicPr>
          <p:cNvPr id="1026" name="Picture 2" descr=" Intro Pic">
            <a:extLst>
              <a:ext uri="{FF2B5EF4-FFF2-40B4-BE49-F238E27FC236}">
                <a16:creationId xmlns:a16="http://schemas.microsoft.com/office/drawing/2014/main" id="{D2604D5B-FADF-14C4-0939-00F752027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750" y="5238036"/>
            <a:ext cx="2381048" cy="1190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32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A0F87-B612-F1AB-C279-0BDD180C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E86F27-E404-DF16-A2B7-E9F9937A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Inductor Design – Comparison between Geometries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89316A-DACE-D232-0CE0-E75B2119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777A6A2-6308-BD58-B10C-C0EA088F128A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46265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Coupled Designs are smaller.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Four-Pole Structure performs best while having the lowest copper-loss.</a:t>
            </a:r>
            <a:endParaRPr lang="en-US" sz="20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7FD49FD-5D64-5C61-1DFF-76BE53B0345B}"/>
              </a:ext>
            </a:extLst>
          </p:cNvPr>
          <p:cNvGrpSpPr/>
          <p:nvPr/>
        </p:nvGrpSpPr>
        <p:grpSpPr>
          <a:xfrm>
            <a:off x="4623958" y="964770"/>
            <a:ext cx="7269555" cy="3389249"/>
            <a:chOff x="4448872" y="2859099"/>
            <a:chExt cx="7269555" cy="3389249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D88F444-5911-7A9E-C62E-AF1AB95BC65B}"/>
                </a:ext>
              </a:extLst>
            </p:cNvPr>
            <p:cNvSpPr/>
            <p:nvPr/>
          </p:nvSpPr>
          <p:spPr>
            <a:xfrm rot="10800000">
              <a:off x="4448873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05F0F6C8-F8A8-3381-15B6-2256993D7525}"/>
                </a:ext>
              </a:extLst>
            </p:cNvPr>
            <p:cNvSpPr/>
            <p:nvPr/>
          </p:nvSpPr>
          <p:spPr>
            <a:xfrm rot="10800000">
              <a:off x="5125972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" name="Rechteck 3">
              <a:extLst>
                <a:ext uri="{FF2B5EF4-FFF2-40B4-BE49-F238E27FC236}">
                  <a16:creationId xmlns:a16="http://schemas.microsoft.com/office/drawing/2014/main" id="{BB6D1316-1734-7501-92B3-3F79BDFCE43C}"/>
                </a:ext>
              </a:extLst>
            </p:cNvPr>
            <p:cNvSpPr/>
            <p:nvPr/>
          </p:nvSpPr>
          <p:spPr>
            <a:xfrm rot="5400000">
              <a:off x="4751069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Rechteck 3">
              <a:extLst>
                <a:ext uri="{FF2B5EF4-FFF2-40B4-BE49-F238E27FC236}">
                  <a16:creationId xmlns:a16="http://schemas.microsoft.com/office/drawing/2014/main" id="{8C641B31-315E-1BCA-2C4F-FB6394A7F0E5}"/>
                </a:ext>
              </a:extLst>
            </p:cNvPr>
            <p:cNvSpPr/>
            <p:nvPr/>
          </p:nvSpPr>
          <p:spPr>
            <a:xfrm rot="5400000">
              <a:off x="5966692" y="1341282"/>
              <a:ext cx="258615" cy="32942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9" name="Rechteck 3">
              <a:extLst>
                <a:ext uri="{FF2B5EF4-FFF2-40B4-BE49-F238E27FC236}">
                  <a16:creationId xmlns:a16="http://schemas.microsoft.com/office/drawing/2014/main" id="{5D77653C-FE97-3F2A-AB91-CC807A32A10A}"/>
                </a:ext>
              </a:extLst>
            </p:cNvPr>
            <p:cNvSpPr/>
            <p:nvPr/>
          </p:nvSpPr>
          <p:spPr>
            <a:xfrm rot="10800000" flipH="1">
              <a:off x="5962697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" name="Rechteck 6">
              <a:extLst>
                <a:ext uri="{FF2B5EF4-FFF2-40B4-BE49-F238E27FC236}">
                  <a16:creationId xmlns:a16="http://schemas.microsoft.com/office/drawing/2014/main" id="{C6605848-FFDB-CCEE-5381-EB7B36F1A06B}"/>
                </a:ext>
              </a:extLst>
            </p:cNvPr>
            <p:cNvSpPr/>
            <p:nvPr/>
          </p:nvSpPr>
          <p:spPr>
            <a:xfrm rot="10800000" flipH="1">
              <a:off x="5311555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" name="Rechteck 3">
              <a:extLst>
                <a:ext uri="{FF2B5EF4-FFF2-40B4-BE49-F238E27FC236}">
                  <a16:creationId xmlns:a16="http://schemas.microsoft.com/office/drawing/2014/main" id="{0D480C32-439D-2622-5DD4-8B3EE86F68B4}"/>
                </a:ext>
              </a:extLst>
            </p:cNvPr>
            <p:cNvSpPr/>
            <p:nvPr/>
          </p:nvSpPr>
          <p:spPr>
            <a:xfrm rot="16200000" flipH="1">
              <a:off x="5613750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" name="Rechteck 3">
              <a:extLst>
                <a:ext uri="{FF2B5EF4-FFF2-40B4-BE49-F238E27FC236}">
                  <a16:creationId xmlns:a16="http://schemas.microsoft.com/office/drawing/2014/main" id="{926410C3-B36E-26B5-8D34-17A726967FDF}"/>
                </a:ext>
              </a:extLst>
            </p:cNvPr>
            <p:cNvSpPr/>
            <p:nvPr/>
          </p:nvSpPr>
          <p:spPr>
            <a:xfrm rot="10800000">
              <a:off x="6017437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" name="Rechteck 6">
              <a:extLst>
                <a:ext uri="{FF2B5EF4-FFF2-40B4-BE49-F238E27FC236}">
                  <a16:creationId xmlns:a16="http://schemas.microsoft.com/office/drawing/2014/main" id="{9F201EF1-341C-BC18-A690-FC62D2102152}"/>
                </a:ext>
              </a:extLst>
            </p:cNvPr>
            <p:cNvSpPr/>
            <p:nvPr/>
          </p:nvSpPr>
          <p:spPr>
            <a:xfrm rot="10800000">
              <a:off x="6694930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" name="Rechteck 3">
              <a:extLst>
                <a:ext uri="{FF2B5EF4-FFF2-40B4-BE49-F238E27FC236}">
                  <a16:creationId xmlns:a16="http://schemas.microsoft.com/office/drawing/2014/main" id="{AEC429EC-8396-125A-4BB4-66758B54340A}"/>
                </a:ext>
              </a:extLst>
            </p:cNvPr>
            <p:cNvSpPr/>
            <p:nvPr/>
          </p:nvSpPr>
          <p:spPr>
            <a:xfrm rot="5400000">
              <a:off x="6319634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5" name="Rechteck 3">
              <a:extLst>
                <a:ext uri="{FF2B5EF4-FFF2-40B4-BE49-F238E27FC236}">
                  <a16:creationId xmlns:a16="http://schemas.microsoft.com/office/drawing/2014/main" id="{C7717711-EFB0-B994-8B4A-56D93AEEE62B}"/>
                </a:ext>
              </a:extLst>
            </p:cNvPr>
            <p:cNvSpPr/>
            <p:nvPr/>
          </p:nvSpPr>
          <p:spPr>
            <a:xfrm rot="10800000" flipH="1">
              <a:off x="7531262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7" name="Rechteck 6">
              <a:extLst>
                <a:ext uri="{FF2B5EF4-FFF2-40B4-BE49-F238E27FC236}">
                  <a16:creationId xmlns:a16="http://schemas.microsoft.com/office/drawing/2014/main" id="{29328138-D61A-7EE7-8AE5-EC20448F05BA}"/>
                </a:ext>
              </a:extLst>
            </p:cNvPr>
            <p:cNvSpPr/>
            <p:nvPr/>
          </p:nvSpPr>
          <p:spPr>
            <a:xfrm rot="10800000" flipH="1">
              <a:off x="6880512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8" name="Rechteck 3">
              <a:extLst>
                <a:ext uri="{FF2B5EF4-FFF2-40B4-BE49-F238E27FC236}">
                  <a16:creationId xmlns:a16="http://schemas.microsoft.com/office/drawing/2014/main" id="{97914D1D-19C4-7545-1CB9-AF0CC0B3BE2E}"/>
                </a:ext>
              </a:extLst>
            </p:cNvPr>
            <p:cNvSpPr/>
            <p:nvPr/>
          </p:nvSpPr>
          <p:spPr>
            <a:xfrm rot="16200000" flipH="1">
              <a:off x="7182314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1EC89B4B-464D-0F9D-3C28-6CB9C97A70D9}"/>
                </a:ext>
              </a:extLst>
            </p:cNvPr>
            <p:cNvSpPr/>
            <p:nvPr/>
          </p:nvSpPr>
          <p:spPr>
            <a:xfrm rot="10800000">
              <a:off x="8084787" y="3187189"/>
              <a:ext cx="258125" cy="49204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C79D1E48-B5D1-9D3B-37D0-98C0AE972186}"/>
                </a:ext>
              </a:extLst>
            </p:cNvPr>
            <p:cNvSpPr/>
            <p:nvPr/>
          </p:nvSpPr>
          <p:spPr>
            <a:xfrm rot="10800000">
              <a:off x="8905825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1" name="Rechteck 3">
              <a:extLst>
                <a:ext uri="{FF2B5EF4-FFF2-40B4-BE49-F238E27FC236}">
                  <a16:creationId xmlns:a16="http://schemas.microsoft.com/office/drawing/2014/main" id="{7A56AE6F-CB1F-B10F-7C5C-5069C7DCD7A2}"/>
                </a:ext>
              </a:extLst>
            </p:cNvPr>
            <p:cNvSpPr/>
            <p:nvPr/>
          </p:nvSpPr>
          <p:spPr>
            <a:xfrm rot="5400000">
              <a:off x="8480955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" name="Rechteck 3">
              <a:extLst>
                <a:ext uri="{FF2B5EF4-FFF2-40B4-BE49-F238E27FC236}">
                  <a16:creationId xmlns:a16="http://schemas.microsoft.com/office/drawing/2014/main" id="{90004A31-03AC-ED50-9A34-FBC10AECDDA2}"/>
                </a:ext>
              </a:extLst>
            </p:cNvPr>
            <p:cNvSpPr/>
            <p:nvPr/>
          </p:nvSpPr>
          <p:spPr>
            <a:xfrm rot="5400000">
              <a:off x="9772051" y="1175013"/>
              <a:ext cx="259111" cy="363363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3" name="Rechteck 6">
              <a:extLst>
                <a:ext uri="{FF2B5EF4-FFF2-40B4-BE49-F238E27FC236}">
                  <a16:creationId xmlns:a16="http://schemas.microsoft.com/office/drawing/2014/main" id="{702792DA-FAA3-EFBD-9EBD-6965575B6EFE}"/>
                </a:ext>
              </a:extLst>
            </p:cNvPr>
            <p:cNvSpPr/>
            <p:nvPr/>
          </p:nvSpPr>
          <p:spPr>
            <a:xfrm rot="10800000" flipH="1">
              <a:off x="9131930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4" name="Rechteck 3">
              <a:extLst>
                <a:ext uri="{FF2B5EF4-FFF2-40B4-BE49-F238E27FC236}">
                  <a16:creationId xmlns:a16="http://schemas.microsoft.com/office/drawing/2014/main" id="{B04AD2D0-BE46-74FD-EF53-9E73952CC2E9}"/>
                </a:ext>
              </a:extLst>
            </p:cNvPr>
            <p:cNvSpPr/>
            <p:nvPr/>
          </p:nvSpPr>
          <p:spPr>
            <a:xfrm rot="16200000" flipH="1">
              <a:off x="9532007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5" name="Rechteck 6">
              <a:extLst>
                <a:ext uri="{FF2B5EF4-FFF2-40B4-BE49-F238E27FC236}">
                  <a16:creationId xmlns:a16="http://schemas.microsoft.com/office/drawing/2014/main" id="{06C9BB36-A15B-FF36-2716-DD30FED8B316}"/>
                </a:ext>
              </a:extLst>
            </p:cNvPr>
            <p:cNvSpPr/>
            <p:nvPr/>
          </p:nvSpPr>
          <p:spPr>
            <a:xfrm rot="10800000">
              <a:off x="10436965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" name="Rechteck 3">
              <a:extLst>
                <a:ext uri="{FF2B5EF4-FFF2-40B4-BE49-F238E27FC236}">
                  <a16:creationId xmlns:a16="http://schemas.microsoft.com/office/drawing/2014/main" id="{137AB0FD-5E13-7B97-0164-C52AFD7470A6}"/>
                </a:ext>
              </a:extLst>
            </p:cNvPr>
            <p:cNvSpPr/>
            <p:nvPr/>
          </p:nvSpPr>
          <p:spPr>
            <a:xfrm rot="5400000">
              <a:off x="10012096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" name="Rechteck 3">
              <a:extLst>
                <a:ext uri="{FF2B5EF4-FFF2-40B4-BE49-F238E27FC236}">
                  <a16:creationId xmlns:a16="http://schemas.microsoft.com/office/drawing/2014/main" id="{9F9BF11C-6FDD-9706-EC14-3C5405A08841}"/>
                </a:ext>
              </a:extLst>
            </p:cNvPr>
            <p:cNvSpPr/>
            <p:nvPr/>
          </p:nvSpPr>
          <p:spPr>
            <a:xfrm rot="10800000" flipH="1">
              <a:off x="11460302" y="3187189"/>
              <a:ext cx="258125" cy="49204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Rechteck 6">
              <a:extLst>
                <a:ext uri="{FF2B5EF4-FFF2-40B4-BE49-F238E27FC236}">
                  <a16:creationId xmlns:a16="http://schemas.microsoft.com/office/drawing/2014/main" id="{7AFCE9B2-4A96-E224-6BA7-390EB741CDA3}"/>
                </a:ext>
              </a:extLst>
            </p:cNvPr>
            <p:cNvSpPr/>
            <p:nvPr/>
          </p:nvSpPr>
          <p:spPr>
            <a:xfrm rot="10800000" flipH="1">
              <a:off x="10663070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Rechteck 3">
              <a:extLst>
                <a:ext uri="{FF2B5EF4-FFF2-40B4-BE49-F238E27FC236}">
                  <a16:creationId xmlns:a16="http://schemas.microsoft.com/office/drawing/2014/main" id="{CA5E0A67-4C7E-4A8B-7AE4-0D7C189B536C}"/>
                </a:ext>
              </a:extLst>
            </p:cNvPr>
            <p:cNvSpPr/>
            <p:nvPr/>
          </p:nvSpPr>
          <p:spPr>
            <a:xfrm rot="16200000" flipH="1">
              <a:off x="11063147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A4CE21AB-FC26-5BF1-F441-E0061FACD3D4}"/>
                </a:ext>
              </a:extLst>
            </p:cNvPr>
            <p:cNvSpPr/>
            <p:nvPr/>
          </p:nvSpPr>
          <p:spPr>
            <a:xfrm rot="10800000">
              <a:off x="8082013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1" name="Rechteck 3">
              <a:extLst>
                <a:ext uri="{FF2B5EF4-FFF2-40B4-BE49-F238E27FC236}">
                  <a16:creationId xmlns:a16="http://schemas.microsoft.com/office/drawing/2014/main" id="{9AD1D87D-93E8-517A-DC33-A167A4EA2D19}"/>
                </a:ext>
              </a:extLst>
            </p:cNvPr>
            <p:cNvSpPr/>
            <p:nvPr/>
          </p:nvSpPr>
          <p:spPr>
            <a:xfrm rot="5400000">
              <a:off x="8142166" y="5494793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2" name="Rechteck 3">
              <a:extLst>
                <a:ext uri="{FF2B5EF4-FFF2-40B4-BE49-F238E27FC236}">
                  <a16:creationId xmlns:a16="http://schemas.microsoft.com/office/drawing/2014/main" id="{B61072D5-957A-E714-4DC3-F2206A585841}"/>
                </a:ext>
              </a:extLst>
            </p:cNvPr>
            <p:cNvSpPr/>
            <p:nvPr/>
          </p:nvSpPr>
          <p:spPr>
            <a:xfrm rot="10800000" flipH="1">
              <a:off x="9626343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3" name="Rechteck 3">
              <a:extLst>
                <a:ext uri="{FF2B5EF4-FFF2-40B4-BE49-F238E27FC236}">
                  <a16:creationId xmlns:a16="http://schemas.microsoft.com/office/drawing/2014/main" id="{808DB1A0-37FA-0248-F5DD-6D0D975AEC56}"/>
                </a:ext>
              </a:extLst>
            </p:cNvPr>
            <p:cNvSpPr/>
            <p:nvPr/>
          </p:nvSpPr>
          <p:spPr>
            <a:xfrm rot="16200000" flipH="1">
              <a:off x="9489029" y="5494792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4" name="Rechteck 3">
              <a:extLst>
                <a:ext uri="{FF2B5EF4-FFF2-40B4-BE49-F238E27FC236}">
                  <a16:creationId xmlns:a16="http://schemas.microsoft.com/office/drawing/2014/main" id="{32105FD1-6A93-6B30-69EE-26FEE1126D6E}"/>
                </a:ext>
              </a:extLst>
            </p:cNvPr>
            <p:cNvSpPr/>
            <p:nvPr/>
          </p:nvSpPr>
          <p:spPr>
            <a:xfrm rot="10800000">
              <a:off x="9947686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5" name="Rechteck 3">
              <a:extLst>
                <a:ext uri="{FF2B5EF4-FFF2-40B4-BE49-F238E27FC236}">
                  <a16:creationId xmlns:a16="http://schemas.microsoft.com/office/drawing/2014/main" id="{32AE6BB1-040C-8DD0-3D5C-C1813E76FAF7}"/>
                </a:ext>
              </a:extLst>
            </p:cNvPr>
            <p:cNvSpPr/>
            <p:nvPr/>
          </p:nvSpPr>
          <p:spPr>
            <a:xfrm rot="10800000" flipH="1">
              <a:off x="11492017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F4EF03F2-6489-0737-6ABD-FA2FA596C131}"/>
                </a:ext>
              </a:extLst>
            </p:cNvPr>
            <p:cNvSpPr/>
            <p:nvPr/>
          </p:nvSpPr>
          <p:spPr>
            <a:xfrm rot="10800000">
              <a:off x="4448872" y="5003340"/>
              <a:ext cx="197286" cy="6024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7" name="Rechteck 3">
              <a:extLst>
                <a:ext uri="{FF2B5EF4-FFF2-40B4-BE49-F238E27FC236}">
                  <a16:creationId xmlns:a16="http://schemas.microsoft.com/office/drawing/2014/main" id="{961B867F-1847-A171-6ACD-60C08F0A357F}"/>
                </a:ext>
              </a:extLst>
            </p:cNvPr>
            <p:cNvSpPr/>
            <p:nvPr/>
          </p:nvSpPr>
          <p:spPr>
            <a:xfrm rot="5400000">
              <a:off x="5121961" y="4916536"/>
              <a:ext cx="258614" cy="16047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Rechteck 3">
              <a:extLst>
                <a:ext uri="{FF2B5EF4-FFF2-40B4-BE49-F238E27FC236}">
                  <a16:creationId xmlns:a16="http://schemas.microsoft.com/office/drawing/2014/main" id="{909F13EC-30C2-224B-8D24-0ACB2C08E945}"/>
                </a:ext>
              </a:extLst>
            </p:cNvPr>
            <p:cNvSpPr/>
            <p:nvPr/>
          </p:nvSpPr>
          <p:spPr>
            <a:xfrm rot="5400000">
              <a:off x="5123041" y="4111409"/>
              <a:ext cx="258616" cy="16069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39" name="Rechteck 3">
              <a:extLst>
                <a:ext uri="{FF2B5EF4-FFF2-40B4-BE49-F238E27FC236}">
                  <a16:creationId xmlns:a16="http://schemas.microsoft.com/office/drawing/2014/main" id="{8E6C4715-EBEE-C63B-6A1D-FB1B50CF393E}"/>
                </a:ext>
              </a:extLst>
            </p:cNvPr>
            <p:cNvSpPr/>
            <p:nvPr/>
          </p:nvSpPr>
          <p:spPr>
            <a:xfrm rot="10800000" flipH="1">
              <a:off x="5858539" y="5003340"/>
              <a:ext cx="197286" cy="64083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0" name="Rechteck 3">
              <a:extLst>
                <a:ext uri="{FF2B5EF4-FFF2-40B4-BE49-F238E27FC236}">
                  <a16:creationId xmlns:a16="http://schemas.microsoft.com/office/drawing/2014/main" id="{6A1256A1-A30D-6618-ABF1-A33054572A61}"/>
                </a:ext>
              </a:extLst>
            </p:cNvPr>
            <p:cNvSpPr/>
            <p:nvPr/>
          </p:nvSpPr>
          <p:spPr>
            <a:xfrm rot="10800000">
              <a:off x="6151862" y="5003340"/>
              <a:ext cx="197286" cy="63229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1" name="Rechteck 3">
              <a:extLst>
                <a:ext uri="{FF2B5EF4-FFF2-40B4-BE49-F238E27FC236}">
                  <a16:creationId xmlns:a16="http://schemas.microsoft.com/office/drawing/2014/main" id="{C37ACF4B-ABAC-261A-21E5-B368F1F668CA}"/>
                </a:ext>
              </a:extLst>
            </p:cNvPr>
            <p:cNvSpPr/>
            <p:nvPr/>
          </p:nvSpPr>
          <p:spPr>
            <a:xfrm rot="10800000" flipH="1">
              <a:off x="7561529" y="5003340"/>
              <a:ext cx="197286" cy="70987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F8519776-73F3-B4D2-1EA2-5A7B1B606887}"/>
                </a:ext>
              </a:extLst>
            </p:cNvPr>
            <p:cNvSpPr/>
            <p:nvPr/>
          </p:nvSpPr>
          <p:spPr>
            <a:xfrm rot="10800000">
              <a:off x="8786318" y="5079448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1555DFE0-B61D-95F8-23D8-49705F339E4B}"/>
                </a:ext>
              </a:extLst>
            </p:cNvPr>
            <p:cNvSpPr/>
            <p:nvPr/>
          </p:nvSpPr>
          <p:spPr>
            <a:xfrm rot="10800000">
              <a:off x="8959130" y="5079450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4" name="Rechteck 3">
              <a:extLst>
                <a:ext uri="{FF2B5EF4-FFF2-40B4-BE49-F238E27FC236}">
                  <a16:creationId xmlns:a16="http://schemas.microsoft.com/office/drawing/2014/main" id="{5F16BB48-68F9-42DA-AD37-5C634956295B}"/>
                </a:ext>
              </a:extLst>
            </p:cNvPr>
            <p:cNvSpPr/>
            <p:nvPr/>
          </p:nvSpPr>
          <p:spPr>
            <a:xfrm rot="5400000">
              <a:off x="8819241" y="5299779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5" name="Rechteck 3">
              <a:extLst>
                <a:ext uri="{FF2B5EF4-FFF2-40B4-BE49-F238E27FC236}">
                  <a16:creationId xmlns:a16="http://schemas.microsoft.com/office/drawing/2014/main" id="{186ECEDB-D171-120B-8E81-AAFE92F27F12}"/>
                </a:ext>
              </a:extLst>
            </p:cNvPr>
            <p:cNvSpPr/>
            <p:nvPr/>
          </p:nvSpPr>
          <p:spPr>
            <a:xfrm rot="5400000">
              <a:off x="8142166" y="4726006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6" name="Rechteck 3">
              <a:extLst>
                <a:ext uri="{FF2B5EF4-FFF2-40B4-BE49-F238E27FC236}">
                  <a16:creationId xmlns:a16="http://schemas.microsoft.com/office/drawing/2014/main" id="{BA49A9DE-452B-B868-35FE-69A5A8256371}"/>
                </a:ext>
              </a:extLst>
            </p:cNvPr>
            <p:cNvSpPr/>
            <p:nvPr/>
          </p:nvSpPr>
          <p:spPr>
            <a:xfrm rot="16200000" flipH="1">
              <a:off x="9489029" y="4726005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7" name="Rechteck 3">
              <a:extLst>
                <a:ext uri="{FF2B5EF4-FFF2-40B4-BE49-F238E27FC236}">
                  <a16:creationId xmlns:a16="http://schemas.microsoft.com/office/drawing/2014/main" id="{94E30CAF-F626-1E50-F60A-4B7C298FBFCE}"/>
                </a:ext>
              </a:extLst>
            </p:cNvPr>
            <p:cNvSpPr/>
            <p:nvPr/>
          </p:nvSpPr>
          <p:spPr>
            <a:xfrm rot="5400000">
              <a:off x="8819241" y="4530993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" name="Rechteck 3">
              <a:extLst>
                <a:ext uri="{FF2B5EF4-FFF2-40B4-BE49-F238E27FC236}">
                  <a16:creationId xmlns:a16="http://schemas.microsoft.com/office/drawing/2014/main" id="{77EBA1FD-A441-A4E7-1C20-D4527847347B}"/>
                </a:ext>
              </a:extLst>
            </p:cNvPr>
            <p:cNvSpPr/>
            <p:nvPr/>
          </p:nvSpPr>
          <p:spPr>
            <a:xfrm rot="5400000">
              <a:off x="10007841" y="5494790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Rechteck 3">
              <a:extLst>
                <a:ext uri="{FF2B5EF4-FFF2-40B4-BE49-F238E27FC236}">
                  <a16:creationId xmlns:a16="http://schemas.microsoft.com/office/drawing/2014/main" id="{01F051C6-69A9-6E70-37DC-906B491A11F0}"/>
                </a:ext>
              </a:extLst>
            </p:cNvPr>
            <p:cNvSpPr/>
            <p:nvPr/>
          </p:nvSpPr>
          <p:spPr>
            <a:xfrm rot="16200000" flipH="1">
              <a:off x="11354704" y="5494789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6AC05F97-AE4D-4B48-D678-F0CEA454D4D7}"/>
                </a:ext>
              </a:extLst>
            </p:cNvPr>
            <p:cNvSpPr/>
            <p:nvPr/>
          </p:nvSpPr>
          <p:spPr>
            <a:xfrm rot="10800000">
              <a:off x="10651993" y="5079446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5F581FB7-D1FE-1EB8-BE66-D45AF112EDA2}"/>
                </a:ext>
              </a:extLst>
            </p:cNvPr>
            <p:cNvSpPr/>
            <p:nvPr/>
          </p:nvSpPr>
          <p:spPr>
            <a:xfrm rot="10800000">
              <a:off x="10824805" y="5079448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4" name="Rechteck 3">
              <a:extLst>
                <a:ext uri="{FF2B5EF4-FFF2-40B4-BE49-F238E27FC236}">
                  <a16:creationId xmlns:a16="http://schemas.microsoft.com/office/drawing/2014/main" id="{2BE4E447-06BF-0075-2FB4-F5BB4FC00F75}"/>
                </a:ext>
              </a:extLst>
            </p:cNvPr>
            <p:cNvSpPr/>
            <p:nvPr/>
          </p:nvSpPr>
          <p:spPr>
            <a:xfrm rot="5400000">
              <a:off x="10684916" y="5299777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5" name="Rechteck 3">
              <a:extLst>
                <a:ext uri="{FF2B5EF4-FFF2-40B4-BE49-F238E27FC236}">
                  <a16:creationId xmlns:a16="http://schemas.microsoft.com/office/drawing/2014/main" id="{C0A4BF88-25B5-0B1F-0808-0A37C8653DE5}"/>
                </a:ext>
              </a:extLst>
            </p:cNvPr>
            <p:cNvSpPr/>
            <p:nvPr/>
          </p:nvSpPr>
          <p:spPr>
            <a:xfrm rot="5400000">
              <a:off x="10007841" y="4726003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6" name="Rechteck 3">
              <a:extLst>
                <a:ext uri="{FF2B5EF4-FFF2-40B4-BE49-F238E27FC236}">
                  <a16:creationId xmlns:a16="http://schemas.microsoft.com/office/drawing/2014/main" id="{391C763D-26CD-69BD-CF4D-8567936D3537}"/>
                </a:ext>
              </a:extLst>
            </p:cNvPr>
            <p:cNvSpPr/>
            <p:nvPr/>
          </p:nvSpPr>
          <p:spPr>
            <a:xfrm rot="16200000" flipH="1">
              <a:off x="11354704" y="4726002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7" name="Rechteck 3">
              <a:extLst>
                <a:ext uri="{FF2B5EF4-FFF2-40B4-BE49-F238E27FC236}">
                  <a16:creationId xmlns:a16="http://schemas.microsoft.com/office/drawing/2014/main" id="{3751DE6D-DC90-91D7-45D7-D1BEF9623C02}"/>
                </a:ext>
              </a:extLst>
            </p:cNvPr>
            <p:cNvSpPr/>
            <p:nvPr/>
          </p:nvSpPr>
          <p:spPr>
            <a:xfrm rot="5400000">
              <a:off x="10684916" y="4530990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8839913A-0887-A3ED-E859-F14D6565C855}"/>
                </a:ext>
              </a:extLst>
            </p:cNvPr>
            <p:cNvSpPr/>
            <p:nvPr/>
          </p:nvSpPr>
          <p:spPr>
            <a:xfrm rot="10800000">
              <a:off x="5081245" y="5108326"/>
              <a:ext cx="341382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9" name="Rechteck 3">
              <a:extLst>
                <a:ext uri="{FF2B5EF4-FFF2-40B4-BE49-F238E27FC236}">
                  <a16:creationId xmlns:a16="http://schemas.microsoft.com/office/drawing/2014/main" id="{C04BAA52-D199-24F4-ACCF-3662A8E41A5A}"/>
                </a:ext>
              </a:extLst>
            </p:cNvPr>
            <p:cNvSpPr/>
            <p:nvPr/>
          </p:nvSpPr>
          <p:spPr>
            <a:xfrm rot="5400000">
              <a:off x="6826386" y="4107142"/>
              <a:ext cx="258616" cy="16069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486D72CE-EBEC-DCF7-D2CD-E3F7536E1B74}"/>
                </a:ext>
              </a:extLst>
            </p:cNvPr>
            <p:cNvSpPr/>
            <p:nvPr/>
          </p:nvSpPr>
          <p:spPr>
            <a:xfrm rot="10800000">
              <a:off x="6784591" y="5104059"/>
              <a:ext cx="341382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1" name="Rechteck 3">
              <a:extLst>
                <a:ext uri="{FF2B5EF4-FFF2-40B4-BE49-F238E27FC236}">
                  <a16:creationId xmlns:a16="http://schemas.microsoft.com/office/drawing/2014/main" id="{55BDC67E-AEE0-E2C8-E378-3EF5691BC25F}"/>
                </a:ext>
              </a:extLst>
            </p:cNvPr>
            <p:cNvSpPr/>
            <p:nvPr/>
          </p:nvSpPr>
          <p:spPr>
            <a:xfrm rot="5400000">
              <a:off x="6826983" y="4916536"/>
              <a:ext cx="258614" cy="16047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0BF5C0FF-FFAD-2541-4236-65B56E37DE10}"/>
                </a:ext>
              </a:extLst>
            </p:cNvPr>
            <p:cNvSpPr txBox="1"/>
            <p:nvPr/>
          </p:nvSpPr>
          <p:spPr>
            <a:xfrm>
              <a:off x="4448873" y="3938347"/>
              <a:ext cx="329425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/>
                <a:t>(a) Double-PQ </a:t>
              </a:r>
              <a:r>
                <a:rPr lang="de-DE" sz="2000" dirty="0" err="1"/>
                <a:t>with</a:t>
              </a:r>
              <a:r>
                <a:rPr lang="de-DE" sz="2000" dirty="0"/>
                <a:t> Dual Air Gap</a:t>
              </a:r>
            </a:p>
          </p:txBody>
        </p: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51A0E0E7-5C6E-9846-3E3E-63D0E50EA314}"/>
                </a:ext>
              </a:extLst>
            </p:cNvPr>
            <p:cNvSpPr txBox="1"/>
            <p:nvPr/>
          </p:nvSpPr>
          <p:spPr>
            <a:xfrm>
              <a:off x="8082013" y="3928008"/>
              <a:ext cx="36336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(b) </a:t>
              </a:r>
              <a:r>
                <a:rPr lang="de-DE" sz="2000" dirty="0" err="1">
                  <a:cs typeface="Times New Roman" panose="02020603050405020304" pitchFamily="18" charset="0"/>
                </a:rPr>
                <a:t>Four</a:t>
              </a:r>
              <a:r>
                <a:rPr lang="de-DE" sz="2000" dirty="0">
                  <a:cs typeface="Times New Roman" panose="02020603050405020304" pitchFamily="18" charset="0"/>
                </a:rPr>
                <a:t>-Pole </a:t>
              </a:r>
              <a:r>
                <a:rPr lang="de-DE" sz="2000" dirty="0" err="1"/>
                <a:t>with</a:t>
              </a:r>
              <a:r>
                <a:rPr lang="de-DE" sz="2000" dirty="0">
                  <a:cs typeface="Times New Roman" panose="02020603050405020304" pitchFamily="18" charset="0"/>
                </a:rPr>
                <a:t> Dual Air Gap</a:t>
              </a:r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C36840EC-4A4F-5120-F47F-3D1B75D7A534}"/>
                </a:ext>
              </a:extLst>
            </p:cNvPr>
            <p:cNvSpPr txBox="1"/>
            <p:nvPr/>
          </p:nvSpPr>
          <p:spPr>
            <a:xfrm>
              <a:off x="4448873" y="5848238"/>
              <a:ext cx="32942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(c) PQ</a:t>
              </a:r>
            </a:p>
          </p:txBody>
        </p: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528C5AC2-617C-76EB-A31C-5059FA8B0DB7}"/>
                </a:ext>
              </a:extLst>
            </p:cNvPr>
            <p:cNvSpPr txBox="1"/>
            <p:nvPr/>
          </p:nvSpPr>
          <p:spPr>
            <a:xfrm>
              <a:off x="8082013" y="5848238"/>
              <a:ext cx="36261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(d) </a:t>
              </a:r>
              <a:r>
                <a:rPr lang="de-DE" sz="2000" dirty="0" err="1">
                  <a:cs typeface="Times New Roman" panose="02020603050405020304" pitchFamily="18" charset="0"/>
                </a:rPr>
                <a:t>Vertical</a:t>
              </a:r>
              <a:r>
                <a:rPr lang="de-DE" sz="2000" dirty="0">
                  <a:cs typeface="Times New Roman" panose="02020603050405020304" pitchFamily="18" charset="0"/>
                </a:rPr>
                <a:t> Gap</a:t>
              </a:r>
            </a:p>
          </p:txBody>
        </p: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6588A2B6-9C1F-9781-7A2E-4AD74A5C0CC3}"/>
                </a:ext>
              </a:extLst>
            </p:cNvPr>
            <p:cNvGrpSpPr/>
            <p:nvPr/>
          </p:nvGrpSpPr>
          <p:grpSpPr>
            <a:xfrm>
              <a:off x="5460983" y="5149749"/>
              <a:ext cx="349166" cy="344071"/>
              <a:chOff x="1559719" y="2843791"/>
              <a:chExt cx="502445" cy="512127"/>
            </a:xfrm>
          </p:grpSpPr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539E1628-5F32-3DFF-F48C-358F09D53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BC06AD7D-73C2-2011-B544-4B6C5433EB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776CE43E-DF95-3229-BEFD-DA0283FF1D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BA885B72-8885-3F39-0C6E-7C992B7F2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6876070F-A5B4-EF56-75B6-9D589D56F7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C548B001-851C-16FE-B647-B03B097185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6A4713AD-3A64-BACE-6068-7D03B12EC6C9}"/>
                </a:ext>
              </a:extLst>
            </p:cNvPr>
            <p:cNvGrpSpPr/>
            <p:nvPr/>
          </p:nvGrpSpPr>
          <p:grpSpPr>
            <a:xfrm>
              <a:off x="4691495" y="5146080"/>
              <a:ext cx="349166" cy="344071"/>
              <a:chOff x="1559719" y="2843791"/>
              <a:chExt cx="502445" cy="512127"/>
            </a:xfrm>
          </p:grpSpPr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8AA11516-2AEA-2EEF-D4AF-5F19884EED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4FD8A7AF-6B53-3745-DD46-667E4B8A0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650FE9B0-2098-CC77-14B4-D4E576E9ED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381A2759-997B-E3B7-3A67-E086E77A15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88ACB85A-EF3E-6BB6-2404-57CD91518B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0E0B5DB0-382C-7644-422A-DC8C4F34D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6B618263-1697-D84E-BAB0-03C1C480E6AD}"/>
                </a:ext>
              </a:extLst>
            </p:cNvPr>
            <p:cNvGrpSpPr/>
            <p:nvPr/>
          </p:nvGrpSpPr>
          <p:grpSpPr>
            <a:xfrm>
              <a:off x="4718574" y="3226862"/>
              <a:ext cx="349166" cy="344071"/>
              <a:chOff x="1559719" y="2843791"/>
              <a:chExt cx="502445" cy="512127"/>
            </a:xfrm>
          </p:grpSpPr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F1647BF5-2804-9A96-5DB2-9C31F05605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36FBE3D4-DE0A-BA3F-E147-659C67F35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448033D6-C785-1719-C96B-F036AFB1FB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88042328-0A6B-FE71-E591-42616BA61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C1D83AAF-37F1-2375-F53A-6EAD8C5742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9CBFA0A0-0639-3FC4-7D64-1C92478F3E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7B35691D-AFF4-5054-0195-A1BFBC3396CB}"/>
                </a:ext>
              </a:extLst>
            </p:cNvPr>
            <p:cNvGrpSpPr/>
            <p:nvPr/>
          </p:nvGrpSpPr>
          <p:grpSpPr>
            <a:xfrm>
              <a:off x="5552594" y="3229740"/>
              <a:ext cx="349166" cy="344071"/>
              <a:chOff x="1559719" y="2843791"/>
              <a:chExt cx="502445" cy="512127"/>
            </a:xfrm>
          </p:grpSpPr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0E6820BD-C8CC-D8A7-15C3-D980F0E29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C35F7D4E-0869-A554-BFAF-A9A8404BA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09593889-687A-9A06-4D8D-E185839F7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EAABF62B-7FE3-61C2-C537-D8B0E2D7B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580C627F-72B1-3A9F-8C57-DFC63A5F0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C47B9337-2ED7-5A1A-CF6F-6C50D2657A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uppieren 71">
              <a:extLst>
                <a:ext uri="{FF2B5EF4-FFF2-40B4-BE49-F238E27FC236}">
                  <a16:creationId xmlns:a16="http://schemas.microsoft.com/office/drawing/2014/main" id="{0DD7643D-96B5-27C2-C302-0C7894E72268}"/>
                </a:ext>
              </a:extLst>
            </p:cNvPr>
            <p:cNvGrpSpPr/>
            <p:nvPr/>
          </p:nvGrpSpPr>
          <p:grpSpPr>
            <a:xfrm>
              <a:off x="8450530" y="3235207"/>
              <a:ext cx="349166" cy="344071"/>
              <a:chOff x="1559719" y="2843791"/>
              <a:chExt cx="502445" cy="512127"/>
            </a:xfrm>
          </p:grpSpPr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F9CC2F35-A301-C000-44E2-ACA5394EB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68C471DB-B584-E48A-5E0F-0DB20452AB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B11C321C-0E7D-F35F-9F69-EDF9D5B03D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78B8E414-B0A3-0EF6-6DF5-F384154A82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6897546E-17E1-2E5E-4B59-65456F2646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605ACF2E-8C79-3AB9-2906-5226A63166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A214EEB4-FFF4-7B60-14DC-843C8606A7EF}"/>
                </a:ext>
              </a:extLst>
            </p:cNvPr>
            <p:cNvGrpSpPr/>
            <p:nvPr/>
          </p:nvGrpSpPr>
          <p:grpSpPr>
            <a:xfrm>
              <a:off x="9441344" y="3236818"/>
              <a:ext cx="349166" cy="344071"/>
              <a:chOff x="1559719" y="2843791"/>
              <a:chExt cx="502445" cy="512127"/>
            </a:xfrm>
          </p:grpSpPr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FC4E43ED-A5ED-C38F-F825-AD2D609ED7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67F83E61-EDCC-6232-52E7-8C68F45DFC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2DA875E3-12C6-A2D6-5DD3-26A00955FE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CC25A0DF-6060-7769-789C-59CE0A1FEC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089F4D83-9A1E-D32A-E877-2F1548A3A5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4BFD984A-09A5-48DA-52FB-A27CB236ED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B1DA9DBE-871F-CEFA-BC4C-9D1E3344B4C6}"/>
                </a:ext>
              </a:extLst>
            </p:cNvPr>
            <p:cNvGrpSpPr/>
            <p:nvPr/>
          </p:nvGrpSpPr>
          <p:grpSpPr>
            <a:xfrm>
              <a:off x="8359024" y="5145085"/>
              <a:ext cx="349166" cy="344071"/>
              <a:chOff x="1559719" y="2843791"/>
              <a:chExt cx="502445" cy="512127"/>
            </a:xfrm>
          </p:grpSpPr>
          <p:cxnSp>
            <p:nvCxnSpPr>
              <p:cNvPr id="144" name="Gerader Verbinder 143">
                <a:extLst>
                  <a:ext uri="{FF2B5EF4-FFF2-40B4-BE49-F238E27FC236}">
                    <a16:creationId xmlns:a16="http://schemas.microsoft.com/office/drawing/2014/main" id="{67D13EFE-75C3-81F5-CBD8-77D1ACADB0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11203FC0-8571-D4A6-396B-936BCD3941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CC4245FB-D389-F462-AF11-4B1BEE472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B6FB37E6-4309-5466-108C-34E240DDA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710F8294-81B9-35BB-9E4E-7FE5D0650C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B2A9E174-645C-21A2-6843-228AC5B801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79B573AD-AD0E-2145-9A15-B6992F5A322B}"/>
                </a:ext>
              </a:extLst>
            </p:cNvPr>
            <p:cNvGrpSpPr/>
            <p:nvPr/>
          </p:nvGrpSpPr>
          <p:grpSpPr>
            <a:xfrm>
              <a:off x="9204711" y="5145883"/>
              <a:ext cx="349166" cy="344071"/>
              <a:chOff x="1559719" y="2843791"/>
              <a:chExt cx="502445" cy="512127"/>
            </a:xfrm>
          </p:grpSpPr>
          <p:cxnSp>
            <p:nvCxnSpPr>
              <p:cNvPr id="138" name="Gerader Verbinder 137">
                <a:extLst>
                  <a:ext uri="{FF2B5EF4-FFF2-40B4-BE49-F238E27FC236}">
                    <a16:creationId xmlns:a16="http://schemas.microsoft.com/office/drawing/2014/main" id="{43E7C968-6EBC-E4EB-73F9-67022989B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Gerader Verbinder 138">
                <a:extLst>
                  <a:ext uri="{FF2B5EF4-FFF2-40B4-BE49-F238E27FC236}">
                    <a16:creationId xmlns:a16="http://schemas.microsoft.com/office/drawing/2014/main" id="{513A97BC-03AB-576E-FC12-45A62CA2D5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Gerader Verbinder 139">
                <a:extLst>
                  <a:ext uri="{FF2B5EF4-FFF2-40B4-BE49-F238E27FC236}">
                    <a16:creationId xmlns:a16="http://schemas.microsoft.com/office/drawing/2014/main" id="{F615C39B-BA42-8ACB-80FA-BE24E6E1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Gerader Verbinder 140">
                <a:extLst>
                  <a:ext uri="{FF2B5EF4-FFF2-40B4-BE49-F238E27FC236}">
                    <a16:creationId xmlns:a16="http://schemas.microsoft.com/office/drawing/2014/main" id="{A286509F-5F5A-FAB0-6DE1-C6DBBBB8A8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r Verbinder 141">
                <a:extLst>
                  <a:ext uri="{FF2B5EF4-FFF2-40B4-BE49-F238E27FC236}">
                    <a16:creationId xmlns:a16="http://schemas.microsoft.com/office/drawing/2014/main" id="{7C9D5785-C1E7-7ACD-5179-956DA6275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Gerader Verbinder 142">
                <a:extLst>
                  <a:ext uri="{FF2B5EF4-FFF2-40B4-BE49-F238E27FC236}">
                    <a16:creationId xmlns:a16="http://schemas.microsoft.com/office/drawing/2014/main" id="{63457337-F340-B514-5614-A5396992E5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uppieren 75">
              <a:extLst>
                <a:ext uri="{FF2B5EF4-FFF2-40B4-BE49-F238E27FC236}">
                  <a16:creationId xmlns:a16="http://schemas.microsoft.com/office/drawing/2014/main" id="{64DC48D1-75C4-C1F9-CE81-D3F883E4506E}"/>
                </a:ext>
              </a:extLst>
            </p:cNvPr>
            <p:cNvGrpSpPr/>
            <p:nvPr/>
          </p:nvGrpSpPr>
          <p:grpSpPr>
            <a:xfrm>
              <a:off x="6289947" y="3235207"/>
              <a:ext cx="349166" cy="344071"/>
              <a:chOff x="1559719" y="2843791"/>
              <a:chExt cx="502445" cy="512127"/>
            </a:xfrm>
          </p:grpSpPr>
          <p:cxnSp>
            <p:nvCxnSpPr>
              <p:cNvPr id="132" name="Gerader Verbinder 131">
                <a:extLst>
                  <a:ext uri="{FF2B5EF4-FFF2-40B4-BE49-F238E27FC236}">
                    <a16:creationId xmlns:a16="http://schemas.microsoft.com/office/drawing/2014/main" id="{64A57D80-0B7C-6442-04F6-35DCABFC1D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74F13EDC-108A-98DD-809E-4A74A0012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Gerader Verbinder 133">
                <a:extLst>
                  <a:ext uri="{FF2B5EF4-FFF2-40B4-BE49-F238E27FC236}">
                    <a16:creationId xmlns:a16="http://schemas.microsoft.com/office/drawing/2014/main" id="{6591521E-C037-2956-E70C-4D93A3B259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Gerader Verbinder 134">
                <a:extLst>
                  <a:ext uri="{FF2B5EF4-FFF2-40B4-BE49-F238E27FC236}">
                    <a16:creationId xmlns:a16="http://schemas.microsoft.com/office/drawing/2014/main" id="{C164DCC1-7631-B77A-97B2-46D9C6ECE0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Gerader Verbinder 135">
                <a:extLst>
                  <a:ext uri="{FF2B5EF4-FFF2-40B4-BE49-F238E27FC236}">
                    <a16:creationId xmlns:a16="http://schemas.microsoft.com/office/drawing/2014/main" id="{AA28C657-88D8-F954-49DE-D8912389DD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Gerader Verbinder 136">
                <a:extLst>
                  <a:ext uri="{FF2B5EF4-FFF2-40B4-BE49-F238E27FC236}">
                    <a16:creationId xmlns:a16="http://schemas.microsoft.com/office/drawing/2014/main" id="{12396C23-99E2-FA48-238F-DA89660364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uppieren 76">
              <a:extLst>
                <a:ext uri="{FF2B5EF4-FFF2-40B4-BE49-F238E27FC236}">
                  <a16:creationId xmlns:a16="http://schemas.microsoft.com/office/drawing/2014/main" id="{9D262F33-A832-5112-E91B-F12FAC0F1054}"/>
                </a:ext>
              </a:extLst>
            </p:cNvPr>
            <p:cNvGrpSpPr/>
            <p:nvPr/>
          </p:nvGrpSpPr>
          <p:grpSpPr>
            <a:xfrm>
              <a:off x="7124257" y="3238066"/>
              <a:ext cx="349166" cy="344071"/>
              <a:chOff x="1559719" y="2843791"/>
              <a:chExt cx="502445" cy="512127"/>
            </a:xfrm>
          </p:grpSpPr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955C7034-767C-406C-4569-1DE102ABB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8675DF00-C32A-DDAE-8BF2-E6A7F3E8B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BBB983C5-8DA4-E8B2-553F-2719BE4DDB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2F24D7FB-B67D-A2AD-0988-2A91A4E435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B964005F-FA36-E4BD-0DAC-CE4BBB8F8F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AC69079C-FBB2-6028-E257-AE55E21977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2BD2CC00-C278-B637-CD54-4863D550D468}"/>
                </a:ext>
              </a:extLst>
            </p:cNvPr>
            <p:cNvGrpSpPr/>
            <p:nvPr/>
          </p:nvGrpSpPr>
          <p:grpSpPr>
            <a:xfrm>
              <a:off x="6392229" y="5151720"/>
              <a:ext cx="349166" cy="344071"/>
              <a:chOff x="1559719" y="2843791"/>
              <a:chExt cx="502445" cy="512127"/>
            </a:xfrm>
          </p:grpSpPr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50852957-0EDE-62FF-A1CE-7A60CC2D9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Gerader Verbinder 120">
                <a:extLst>
                  <a:ext uri="{FF2B5EF4-FFF2-40B4-BE49-F238E27FC236}">
                    <a16:creationId xmlns:a16="http://schemas.microsoft.com/office/drawing/2014/main" id="{94D4CF75-B25B-0A63-E670-374B0766DB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238FF026-3651-8061-7D09-64CF77AAF3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A7C33B61-98F9-2853-B6AD-8D8FDB8892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E3AAB171-B05E-D440-1631-718C789B4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8D09AB0F-4EDC-E202-AE67-206CBDB96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uppieren 78">
              <a:extLst>
                <a:ext uri="{FF2B5EF4-FFF2-40B4-BE49-F238E27FC236}">
                  <a16:creationId xmlns:a16="http://schemas.microsoft.com/office/drawing/2014/main" id="{C093CECD-89D9-F842-0D52-32953A81C0FB}"/>
                </a:ext>
              </a:extLst>
            </p:cNvPr>
            <p:cNvGrpSpPr/>
            <p:nvPr/>
          </p:nvGrpSpPr>
          <p:grpSpPr>
            <a:xfrm>
              <a:off x="7169167" y="5153847"/>
              <a:ext cx="349166" cy="344071"/>
              <a:chOff x="1559719" y="2843791"/>
              <a:chExt cx="502445" cy="512127"/>
            </a:xfrm>
          </p:grpSpPr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3A86E372-3514-D1FD-DC68-E4B2C80FC8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AF14E9BC-1138-982F-891E-729D9D08AF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3133B597-E1FA-AE29-6E61-410FC908B5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F8CCACE3-72A8-8D5F-2BFA-3FE2DFFF8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Gerader Verbinder 117">
                <a:extLst>
                  <a:ext uri="{FF2B5EF4-FFF2-40B4-BE49-F238E27FC236}">
                    <a16:creationId xmlns:a16="http://schemas.microsoft.com/office/drawing/2014/main" id="{90203D3F-0D2A-9BBB-1CBD-231328EB61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Gerader Verbinder 118">
                <a:extLst>
                  <a:ext uri="{FF2B5EF4-FFF2-40B4-BE49-F238E27FC236}">
                    <a16:creationId xmlns:a16="http://schemas.microsoft.com/office/drawing/2014/main" id="{46BC344A-8475-DEE6-3C7B-1E7BB76795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uppieren 79">
              <a:extLst>
                <a:ext uri="{FF2B5EF4-FFF2-40B4-BE49-F238E27FC236}">
                  <a16:creationId xmlns:a16="http://schemas.microsoft.com/office/drawing/2014/main" id="{F750BF89-38F3-AB66-B471-12A1E119A607}"/>
                </a:ext>
              </a:extLst>
            </p:cNvPr>
            <p:cNvGrpSpPr/>
            <p:nvPr/>
          </p:nvGrpSpPr>
          <p:grpSpPr>
            <a:xfrm>
              <a:off x="9996840" y="3236224"/>
              <a:ext cx="349166" cy="344071"/>
              <a:chOff x="1559719" y="2843791"/>
              <a:chExt cx="502445" cy="512127"/>
            </a:xfrm>
          </p:grpSpPr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67534DE3-A906-4ADF-ADC8-D12E3DB0E0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D8D2A642-1938-4485-2667-BF00BEF679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EBE24B26-3D4F-69CF-C60D-EA752098B3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E779A77D-E290-B63C-7327-FA63C386D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D7FA56C2-E793-44F3-0FC8-50C69714CF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5F55C34F-56EA-345D-2B20-AE704FD5F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E7961173-6DBF-42B2-1E05-C47CB882DBE7}"/>
                </a:ext>
              </a:extLst>
            </p:cNvPr>
            <p:cNvGrpSpPr/>
            <p:nvPr/>
          </p:nvGrpSpPr>
          <p:grpSpPr>
            <a:xfrm>
              <a:off x="10969543" y="3228276"/>
              <a:ext cx="349166" cy="344071"/>
              <a:chOff x="1559719" y="2843791"/>
              <a:chExt cx="502445" cy="512127"/>
            </a:xfrm>
          </p:grpSpPr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5EF88792-FDEA-3A79-0BA6-865DF8CE3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97DDC08D-78B1-32FC-8205-DE9C0B70D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A9814267-4D75-1E1B-A439-FDE83D07B8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AD7E28CF-F036-E28F-0D3F-8836497EEA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59F530F9-A017-1462-82B2-1CD9B8A53A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>
                <a:extLst>
                  <a:ext uri="{FF2B5EF4-FFF2-40B4-BE49-F238E27FC236}">
                    <a16:creationId xmlns:a16="http://schemas.microsoft.com/office/drawing/2014/main" id="{2EF8B6C2-1B37-B78A-D94E-FCE804604E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uppieren 81">
              <a:extLst>
                <a:ext uri="{FF2B5EF4-FFF2-40B4-BE49-F238E27FC236}">
                  <a16:creationId xmlns:a16="http://schemas.microsoft.com/office/drawing/2014/main" id="{A12B7DB7-AF66-3FFD-C656-C9966B09B7E2}"/>
                </a:ext>
              </a:extLst>
            </p:cNvPr>
            <p:cNvGrpSpPr/>
            <p:nvPr/>
          </p:nvGrpSpPr>
          <p:grpSpPr>
            <a:xfrm>
              <a:off x="10228591" y="5143369"/>
              <a:ext cx="349166" cy="344071"/>
              <a:chOff x="1559719" y="2843791"/>
              <a:chExt cx="502445" cy="512127"/>
            </a:xfrm>
          </p:grpSpPr>
          <p:cxnSp>
            <p:nvCxnSpPr>
              <p:cNvPr id="96" name="Gerader Verbinder 95">
                <a:extLst>
                  <a:ext uri="{FF2B5EF4-FFF2-40B4-BE49-F238E27FC236}">
                    <a16:creationId xmlns:a16="http://schemas.microsoft.com/office/drawing/2014/main" id="{407D6DDE-5E9C-67F3-40F8-FEF81E87EB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Gerader Verbinder 96">
                <a:extLst>
                  <a:ext uri="{FF2B5EF4-FFF2-40B4-BE49-F238E27FC236}">
                    <a16:creationId xmlns:a16="http://schemas.microsoft.com/office/drawing/2014/main" id="{8338076B-C4C8-C68D-9BE6-BDC4FDC10A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3FAD373F-E6E2-9D8F-661F-796CAA3E9D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C2EE2A04-B8D6-15BE-0DCC-B8E90ECC3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>
                <a:extLst>
                  <a:ext uri="{FF2B5EF4-FFF2-40B4-BE49-F238E27FC236}">
                    <a16:creationId xmlns:a16="http://schemas.microsoft.com/office/drawing/2014/main" id="{B7EE2357-3EC7-B2A6-8F44-2D847358FF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FE316DA3-02D3-B348-7AD0-15A07C933F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877C7117-47B1-A895-EC6E-5EA22860056D}"/>
                </a:ext>
              </a:extLst>
            </p:cNvPr>
            <p:cNvGrpSpPr/>
            <p:nvPr/>
          </p:nvGrpSpPr>
          <p:grpSpPr>
            <a:xfrm>
              <a:off x="11070385" y="5135815"/>
              <a:ext cx="349166" cy="344071"/>
              <a:chOff x="1559719" y="2843791"/>
              <a:chExt cx="502445" cy="512127"/>
            </a:xfrm>
          </p:grpSpPr>
          <p:cxnSp>
            <p:nvCxnSpPr>
              <p:cNvPr id="90" name="Gerader Verbinder 89">
                <a:extLst>
                  <a:ext uri="{FF2B5EF4-FFF2-40B4-BE49-F238E27FC236}">
                    <a16:creationId xmlns:a16="http://schemas.microsoft.com/office/drawing/2014/main" id="{FBAEDB58-74C1-9B57-F8C2-63E17173F4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Gerader Verbinder 90">
                <a:extLst>
                  <a:ext uri="{FF2B5EF4-FFF2-40B4-BE49-F238E27FC236}">
                    <a16:creationId xmlns:a16="http://schemas.microsoft.com/office/drawing/2014/main" id="{84EFFAFC-217C-9404-36E3-2DD0FFA50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Gerader Verbinder 91">
                <a:extLst>
                  <a:ext uri="{FF2B5EF4-FFF2-40B4-BE49-F238E27FC236}">
                    <a16:creationId xmlns:a16="http://schemas.microsoft.com/office/drawing/2014/main" id="{907412F5-C2B3-4D72-CB9F-24675CE760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Gerader Verbinder 92">
                <a:extLst>
                  <a:ext uri="{FF2B5EF4-FFF2-40B4-BE49-F238E27FC236}">
                    <a16:creationId xmlns:a16="http://schemas.microsoft.com/office/drawing/2014/main" id="{CE5E48EF-68E3-5B27-A8EB-EC5B361244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Gerader Verbinder 93">
                <a:extLst>
                  <a:ext uri="{FF2B5EF4-FFF2-40B4-BE49-F238E27FC236}">
                    <a16:creationId xmlns:a16="http://schemas.microsoft.com/office/drawing/2014/main" id="{2C06DAFF-7B9B-E346-2E63-86C3480F5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410AAACE-368A-37F8-C5B7-3ED8A48531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7" name="Grafik 186">
            <a:extLst>
              <a:ext uri="{FF2B5EF4-FFF2-40B4-BE49-F238E27FC236}">
                <a16:creationId xmlns:a16="http://schemas.microsoft.com/office/drawing/2014/main" id="{7BEC30C1-30BB-8541-C3EB-503843B8C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609" y="4663776"/>
            <a:ext cx="6227854" cy="1879997"/>
          </a:xfrm>
          <a:prstGeom prst="rect">
            <a:avLst/>
          </a:prstGeom>
        </p:spPr>
      </p:pic>
      <p:pic>
        <p:nvPicPr>
          <p:cNvPr id="188" name="Grafik 187">
            <a:extLst>
              <a:ext uri="{FF2B5EF4-FFF2-40B4-BE49-F238E27FC236}">
                <a16:creationId xmlns:a16="http://schemas.microsoft.com/office/drawing/2014/main" id="{50D882B6-719E-B08E-8475-4E3F7BBC5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9" y="3807259"/>
            <a:ext cx="4194780" cy="2325037"/>
          </a:xfrm>
          <a:prstGeom prst="rect">
            <a:avLst/>
          </a:prstGeom>
        </p:spPr>
      </p:pic>
      <p:sp>
        <p:nvSpPr>
          <p:cNvPr id="51" name="Rechteck 50">
            <a:extLst>
              <a:ext uri="{FF2B5EF4-FFF2-40B4-BE49-F238E27FC236}">
                <a16:creationId xmlns:a16="http://schemas.microsoft.com/office/drawing/2014/main" id="{D096F527-3325-5196-78D6-EBE003471BA4}"/>
              </a:ext>
            </a:extLst>
          </p:cNvPr>
          <p:cNvSpPr/>
          <p:nvPr/>
        </p:nvSpPr>
        <p:spPr>
          <a:xfrm>
            <a:off x="5384316" y="6188621"/>
            <a:ext cx="677493" cy="23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8CBE165-E39B-1125-D545-BE6FE43BBEAC}"/>
              </a:ext>
            </a:extLst>
          </p:cNvPr>
          <p:cNvSpPr txBox="1"/>
          <p:nvPr/>
        </p:nvSpPr>
        <p:spPr>
          <a:xfrm>
            <a:off x="5301058" y="6146558"/>
            <a:ext cx="57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ysClr val="windowText" lastClr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PQ          </a:t>
            </a:r>
          </a:p>
        </p:txBody>
      </p:sp>
    </p:spTree>
    <p:extLst>
      <p:ext uri="{BB962C8B-B14F-4D97-AF65-F5344CB8AC3E}">
        <p14:creationId xmlns:p14="http://schemas.microsoft.com/office/powerpoint/2010/main" val="255187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4C25C-47AD-B1EE-2ADC-5CFFFDA04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12373D-1EDC-67F1-C62C-D054DB9F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Inductor Design – Flux Distribution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98B942-F807-05A5-0568-A945BB32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84B047A-195A-861D-C6AD-DF0D0B26EBEF}"/>
              </a:ext>
            </a:extLst>
          </p:cNvPr>
          <p:cNvSpPr txBox="1">
            <a:spLocks/>
          </p:cNvSpPr>
          <p:nvPr/>
        </p:nvSpPr>
        <p:spPr>
          <a:xfrm>
            <a:off x="504986" y="1065456"/>
            <a:ext cx="2863736" cy="497709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Different Flux-Path for DC and Fundamental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Pos. Coupling: High DC-Flux but low AC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Neg. Coupling: Low DC-Flux but high AC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graphicFrame>
        <p:nvGraphicFramePr>
          <p:cNvPr id="214" name="Tabelle 213">
            <a:extLst>
              <a:ext uri="{FF2B5EF4-FFF2-40B4-BE49-F238E27FC236}">
                <a16:creationId xmlns:a16="http://schemas.microsoft.com/office/drawing/2014/main" id="{3D361AD7-9463-ED6E-C3D5-9BA7AFEA6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399245"/>
              </p:ext>
            </p:extLst>
          </p:nvPr>
        </p:nvGraphicFramePr>
        <p:xfrm>
          <a:off x="2802514" y="6074731"/>
          <a:ext cx="8350632" cy="563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2674426793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3572661540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3961166950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2768585121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1351681767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3656942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684801856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2683172096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2798623327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1580858874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259720998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3917417724"/>
                    </a:ext>
                  </a:extLst>
                </a:gridCol>
              </a:tblGrid>
              <a:tr h="163560"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633852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8978587"/>
                  </a:ext>
                </a:extLst>
              </a:tr>
            </a:tbl>
          </a:graphicData>
        </a:graphic>
      </p:graphicFrame>
      <p:sp>
        <p:nvSpPr>
          <p:cNvPr id="230" name="Rechteck 229">
            <a:extLst>
              <a:ext uri="{FF2B5EF4-FFF2-40B4-BE49-F238E27FC236}">
                <a16:creationId xmlns:a16="http://schemas.microsoft.com/office/drawing/2014/main" id="{89845EA5-3035-2568-043F-BE09BFD1239C}"/>
              </a:ext>
            </a:extLst>
          </p:cNvPr>
          <p:cNvSpPr/>
          <p:nvPr/>
        </p:nvSpPr>
        <p:spPr>
          <a:xfrm>
            <a:off x="3490039" y="5778706"/>
            <a:ext cx="7213275" cy="303645"/>
          </a:xfrm>
          <a:prstGeom prst="rect">
            <a:avLst/>
          </a:prstGeom>
          <a:gradFill>
            <a:gsLst>
              <a:gs pos="50000">
                <a:srgbClr val="FFF201"/>
              </a:gs>
              <a:gs pos="85000">
                <a:srgbClr val="FF4593"/>
              </a:gs>
              <a:gs pos="70000">
                <a:srgbClr val="FF9433"/>
              </a:gs>
              <a:gs pos="60000">
                <a:srgbClr val="FFC210"/>
              </a:gs>
              <a:gs pos="40000">
                <a:srgbClr val="D9FF06"/>
              </a:gs>
              <a:gs pos="20000">
                <a:srgbClr val="7BFF4C"/>
              </a:gs>
              <a:gs pos="10000">
                <a:srgbClr val="45FF93"/>
              </a:gs>
              <a:gs pos="30000">
                <a:srgbClr val="ABFF1F"/>
              </a:gs>
              <a:gs pos="0">
                <a:srgbClr val="00FFFF"/>
              </a:gs>
              <a:gs pos="95000">
                <a:srgbClr val="FF00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sp>
        <p:nvSpPr>
          <p:cNvPr id="231" name="Textfeld 230">
            <a:extLst>
              <a:ext uri="{FF2B5EF4-FFF2-40B4-BE49-F238E27FC236}">
                <a16:creationId xmlns:a16="http://schemas.microsoft.com/office/drawing/2014/main" id="{775F84FC-3854-3DDF-EFBF-B85B1E9EDA6F}"/>
              </a:ext>
            </a:extLst>
          </p:cNvPr>
          <p:cNvSpPr txBox="1"/>
          <p:nvPr/>
        </p:nvSpPr>
        <p:spPr>
          <a:xfrm>
            <a:off x="10645875" y="6242088"/>
            <a:ext cx="1014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kern="1200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B[</a:t>
            </a:r>
            <a:r>
              <a:rPr lang="de-DE" sz="2000" kern="1200" dirty="0" err="1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mT</a:t>
            </a:r>
            <a:r>
              <a:rPr lang="de-DE" sz="2000" kern="1200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32" name="Rechteck 231">
            <a:extLst>
              <a:ext uri="{FF2B5EF4-FFF2-40B4-BE49-F238E27FC236}">
                <a16:creationId xmlns:a16="http://schemas.microsoft.com/office/drawing/2014/main" id="{B9844EB0-1810-B31E-36DE-C3232FA7E6EE}"/>
              </a:ext>
            </a:extLst>
          </p:cNvPr>
          <p:cNvSpPr/>
          <p:nvPr/>
        </p:nvSpPr>
        <p:spPr>
          <a:xfrm>
            <a:off x="10703314" y="5778706"/>
            <a:ext cx="1014542" cy="303645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/>
          </a:p>
        </p:txBody>
      </p:sp>
      <p:grpSp>
        <p:nvGrpSpPr>
          <p:cNvPr id="233" name="Gruppieren 232">
            <a:extLst>
              <a:ext uri="{FF2B5EF4-FFF2-40B4-BE49-F238E27FC236}">
                <a16:creationId xmlns:a16="http://schemas.microsoft.com/office/drawing/2014/main" id="{EB6897B0-2FE7-189D-5468-5A28117A6405}"/>
              </a:ext>
            </a:extLst>
          </p:cNvPr>
          <p:cNvGrpSpPr/>
          <p:nvPr/>
        </p:nvGrpSpPr>
        <p:grpSpPr>
          <a:xfrm flipH="1">
            <a:off x="10761336" y="5593303"/>
            <a:ext cx="361330" cy="677277"/>
            <a:chOff x="9547312" y="5330165"/>
            <a:chExt cx="468902" cy="782838"/>
          </a:xfrm>
        </p:grpSpPr>
        <p:sp>
          <p:nvSpPr>
            <p:cNvPr id="234" name="Parallelogramm 233">
              <a:extLst>
                <a:ext uri="{FF2B5EF4-FFF2-40B4-BE49-F238E27FC236}">
                  <a16:creationId xmlns:a16="http://schemas.microsoft.com/office/drawing/2014/main" id="{D378FF60-A560-796A-68A4-5444CE8824CE}"/>
                </a:ext>
              </a:extLst>
            </p:cNvPr>
            <p:cNvSpPr/>
            <p:nvPr/>
          </p:nvSpPr>
          <p:spPr>
            <a:xfrm flipH="1">
              <a:off x="9639903" y="5408273"/>
              <a:ext cx="277245" cy="623303"/>
            </a:xfrm>
            <a:prstGeom prst="parallelogram">
              <a:avLst>
                <a:gd name="adj" fmla="val 5997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235" name="Rechteck 234">
              <a:extLst>
                <a:ext uri="{FF2B5EF4-FFF2-40B4-BE49-F238E27FC236}">
                  <a16:creationId xmlns:a16="http://schemas.microsoft.com/office/drawing/2014/main" id="{E12AB9C7-F594-C339-8D47-BAC05EB53839}"/>
                </a:ext>
              </a:extLst>
            </p:cNvPr>
            <p:cNvSpPr/>
            <p:nvPr/>
          </p:nvSpPr>
          <p:spPr>
            <a:xfrm>
              <a:off x="9547312" y="5330165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236" name="Rechteck 235">
              <a:extLst>
                <a:ext uri="{FF2B5EF4-FFF2-40B4-BE49-F238E27FC236}">
                  <a16:creationId xmlns:a16="http://schemas.microsoft.com/office/drawing/2014/main" id="{75AEACC4-46D8-35C6-2B4D-027E0CA74B7B}"/>
                </a:ext>
              </a:extLst>
            </p:cNvPr>
            <p:cNvSpPr/>
            <p:nvPr/>
          </p:nvSpPr>
          <p:spPr>
            <a:xfrm>
              <a:off x="9738968" y="6008228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</p:grpSp>
      <p:pic>
        <p:nvPicPr>
          <p:cNvPr id="237" name="Inhaltsplatzhalter 5" descr="Ein Bild, das Text, Diagramm, Screenshot, Farbigkeit enthält.&#10;&#10;KI-generierte Inhalte können fehlerhaft sein.">
            <a:extLst>
              <a:ext uri="{FF2B5EF4-FFF2-40B4-BE49-F238E27FC236}">
                <a16:creationId xmlns:a16="http://schemas.microsoft.com/office/drawing/2014/main" id="{D09C129B-2F44-10A5-ED4A-42041348C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" t="44503" r="27931" b="932"/>
          <a:stretch/>
        </p:blipFill>
        <p:spPr>
          <a:xfrm>
            <a:off x="3497149" y="1109383"/>
            <a:ext cx="4046141" cy="1770962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238" name="Textfeld 237">
            <a:extLst>
              <a:ext uri="{FF2B5EF4-FFF2-40B4-BE49-F238E27FC236}">
                <a16:creationId xmlns:a16="http://schemas.microsoft.com/office/drawing/2014/main" id="{43D1C405-BC22-0276-4C00-3E64AF04B471}"/>
              </a:ext>
            </a:extLst>
          </p:cNvPr>
          <p:cNvSpPr txBox="1"/>
          <p:nvPr/>
        </p:nvSpPr>
        <p:spPr>
          <a:xfrm>
            <a:off x="3490039" y="2880345"/>
            <a:ext cx="405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cs typeface="Times New Roman" panose="02020603050405020304" pitchFamily="18" charset="0"/>
              </a:rPr>
              <a:t>Neg. Coupling DC</a:t>
            </a:r>
          </a:p>
        </p:txBody>
      </p:sp>
      <p:pic>
        <p:nvPicPr>
          <p:cNvPr id="239" name="Grafik 238" descr="Ein Bild, das Farbigkei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E901D254-D384-85C8-FF4D-7CD1BE4C9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" t="45065" r="28379" b="1423"/>
          <a:stretch/>
        </p:blipFill>
        <p:spPr>
          <a:xfrm>
            <a:off x="3497149" y="3412913"/>
            <a:ext cx="4046141" cy="1757857"/>
          </a:xfrm>
          <a:prstGeom prst="rect">
            <a:avLst/>
          </a:prstGeom>
        </p:spPr>
      </p:pic>
      <p:sp>
        <p:nvSpPr>
          <p:cNvPr id="240" name="Textfeld 239">
            <a:extLst>
              <a:ext uri="{FF2B5EF4-FFF2-40B4-BE49-F238E27FC236}">
                <a16:creationId xmlns:a16="http://schemas.microsoft.com/office/drawing/2014/main" id="{3DE8C5A9-93F5-50CB-2289-DE10741EA780}"/>
              </a:ext>
            </a:extLst>
          </p:cNvPr>
          <p:cNvSpPr txBox="1"/>
          <p:nvPr/>
        </p:nvSpPr>
        <p:spPr>
          <a:xfrm>
            <a:off x="3497149" y="5169418"/>
            <a:ext cx="4046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cs typeface="Times New Roman" panose="02020603050405020304" pitchFamily="18" charset="0"/>
              </a:rPr>
              <a:t>Neg. Coupling AC (Fundamental)</a:t>
            </a:r>
          </a:p>
        </p:txBody>
      </p:sp>
      <p:pic>
        <p:nvPicPr>
          <p:cNvPr id="241" name="Grafik 240" descr="Ein Bild, das Text, Screenshot, Diagramm, Farbigkeit enthält.&#10;&#10;KI-generierte Inhalte können fehlerhaft sein.">
            <a:extLst>
              <a:ext uri="{FF2B5EF4-FFF2-40B4-BE49-F238E27FC236}">
                <a16:creationId xmlns:a16="http://schemas.microsoft.com/office/drawing/2014/main" id="{4AF80B63-E7A7-873D-5004-B864AFA88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" t="44598" r="28206" b="1098"/>
          <a:stretch/>
        </p:blipFill>
        <p:spPr>
          <a:xfrm>
            <a:off x="7671715" y="3412913"/>
            <a:ext cx="4046141" cy="1767855"/>
          </a:xfrm>
          <a:prstGeom prst="rect">
            <a:avLst/>
          </a:prstGeom>
        </p:spPr>
      </p:pic>
      <p:sp>
        <p:nvSpPr>
          <p:cNvPr id="242" name="Textfeld 241">
            <a:extLst>
              <a:ext uri="{FF2B5EF4-FFF2-40B4-BE49-F238E27FC236}">
                <a16:creationId xmlns:a16="http://schemas.microsoft.com/office/drawing/2014/main" id="{630229B1-210A-7A1D-D4D1-6ACDED5191F0}"/>
              </a:ext>
            </a:extLst>
          </p:cNvPr>
          <p:cNvSpPr txBox="1"/>
          <p:nvPr/>
        </p:nvSpPr>
        <p:spPr>
          <a:xfrm>
            <a:off x="7671715" y="5169418"/>
            <a:ext cx="4046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cs typeface="Times New Roman" panose="02020603050405020304" pitchFamily="18" charset="0"/>
              </a:rPr>
              <a:t>Pos. Coupling AC (Fundamental)</a:t>
            </a:r>
          </a:p>
        </p:txBody>
      </p:sp>
      <p:pic>
        <p:nvPicPr>
          <p:cNvPr id="243" name="Grafik 242" descr="Ein Bild, das Farbigkeit, Diagramm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F8FDC0E-E4AF-8086-A9AE-7CF7499CB9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" t="44493" r="28263" b="1290"/>
          <a:stretch/>
        </p:blipFill>
        <p:spPr>
          <a:xfrm>
            <a:off x="7671715" y="1107001"/>
            <a:ext cx="4053251" cy="1770962"/>
          </a:xfrm>
          <a:prstGeom prst="rect">
            <a:avLst/>
          </a:prstGeom>
        </p:spPr>
      </p:pic>
      <p:sp>
        <p:nvSpPr>
          <p:cNvPr id="244" name="Textfeld 243">
            <a:extLst>
              <a:ext uri="{FF2B5EF4-FFF2-40B4-BE49-F238E27FC236}">
                <a16:creationId xmlns:a16="http://schemas.microsoft.com/office/drawing/2014/main" id="{15E8E55C-B132-5D57-B334-3FA2B46FA85B}"/>
              </a:ext>
            </a:extLst>
          </p:cNvPr>
          <p:cNvSpPr txBox="1"/>
          <p:nvPr/>
        </p:nvSpPr>
        <p:spPr>
          <a:xfrm>
            <a:off x="7671716" y="2877963"/>
            <a:ext cx="4046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cs typeface="Times New Roman" panose="02020603050405020304" pitchFamily="18" charset="0"/>
              </a:rPr>
              <a:t>Pos. Coupling DC</a:t>
            </a:r>
          </a:p>
        </p:txBody>
      </p:sp>
      <p:pic>
        <p:nvPicPr>
          <p:cNvPr id="246" name="Picture 2" descr="Changes when operating with high magnetic flux">
            <a:extLst>
              <a:ext uri="{FF2B5EF4-FFF2-40B4-BE49-F238E27FC236}">
                <a16:creationId xmlns:a16="http://schemas.microsoft.com/office/drawing/2014/main" id="{D7B650C9-D503-FC12-20A6-7CD585C8BC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7" r="41340" b="3927"/>
          <a:stretch>
            <a:fillRect/>
          </a:stretch>
        </p:blipFill>
        <p:spPr bwMode="auto">
          <a:xfrm>
            <a:off x="361008" y="4556760"/>
            <a:ext cx="2950863" cy="168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12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DAF0-6810-901D-6F0F-015485EB5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2E35642-ACAC-661D-6D29-B078BE57E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39" y="964770"/>
            <a:ext cx="5318039" cy="560742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8E30E05-D113-EEE9-A5D0-FA0CEC5C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Inductor Design – Air-Gap and Winding Optimization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4C1FCF-41CE-07AB-F52C-FE707474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80DEB46-29AB-6428-2FB5-2A301D4CAE59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5939232" cy="46265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Current crowds in areas of large H-field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Dual Air-Gap improves field distribution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Different winding widths avoid areas of high H-field</a:t>
            </a:r>
          </a:p>
          <a:p>
            <a:pPr lvl="1" indent="-288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73FF35C8-AC29-8670-1BF3-B72E13366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86" y="3145744"/>
            <a:ext cx="5939232" cy="151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3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5922-EC40-5FFF-5615-9B7C6CBF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404895-32FB-79B9-8D8F-910C4DD5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Experimental Prototype – Build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A9ECFB-DBC5-914F-CF83-3DB0E30D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11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9B98D00-AB1D-334B-B476-1C9DF22737FA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46265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45 x 29 x 9.5 mm</a:t>
            </a:r>
            <a:endParaRPr lang="en-US" sz="20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88" name="Grafik 87">
            <a:extLst>
              <a:ext uri="{FF2B5EF4-FFF2-40B4-BE49-F238E27FC236}">
                <a16:creationId xmlns:a16="http://schemas.microsoft.com/office/drawing/2014/main" id="{640CC2B3-0E1C-A7D9-F57A-9FA9C3682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28" y="1708978"/>
            <a:ext cx="5370478" cy="2532463"/>
          </a:xfrm>
          <a:prstGeom prst="rect">
            <a:avLst/>
          </a:prstGeom>
        </p:spPr>
      </p:pic>
      <p:pic>
        <p:nvPicPr>
          <p:cNvPr id="188" name="Grafik 187">
            <a:extLst>
              <a:ext uri="{FF2B5EF4-FFF2-40B4-BE49-F238E27FC236}">
                <a16:creationId xmlns:a16="http://schemas.microsoft.com/office/drawing/2014/main" id="{8BCC800D-D969-F7B7-31F8-AA23E68DE4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030"/>
          <a:stretch>
            <a:fillRect/>
          </a:stretch>
        </p:blipFill>
        <p:spPr>
          <a:xfrm>
            <a:off x="4709615" y="4357544"/>
            <a:ext cx="3428280" cy="1930507"/>
          </a:xfrm>
          <a:prstGeom prst="rect">
            <a:avLst/>
          </a:prstGeom>
        </p:spPr>
      </p:pic>
      <p:pic>
        <p:nvPicPr>
          <p:cNvPr id="189" name="Grafik 188">
            <a:extLst>
              <a:ext uri="{FF2B5EF4-FFF2-40B4-BE49-F238E27FC236}">
                <a16:creationId xmlns:a16="http://schemas.microsoft.com/office/drawing/2014/main" id="{4231379E-0F0C-BBC9-7F80-3CB55576E5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910"/>
          <a:stretch>
            <a:fillRect/>
          </a:stretch>
        </p:blipFill>
        <p:spPr>
          <a:xfrm>
            <a:off x="8423663" y="4361547"/>
            <a:ext cx="3428280" cy="1876198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59668BE-C2D9-9A79-872B-EC4629BA37DF}"/>
              </a:ext>
            </a:extLst>
          </p:cNvPr>
          <p:cNvGrpSpPr/>
          <p:nvPr/>
        </p:nvGrpSpPr>
        <p:grpSpPr>
          <a:xfrm>
            <a:off x="6915216" y="964770"/>
            <a:ext cx="4936727" cy="3170255"/>
            <a:chOff x="6119998" y="2991971"/>
            <a:chExt cx="4771803" cy="295173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E8204F25-6F98-A78F-7D93-112964CB55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62" t="22372" r="28803" b="27380"/>
            <a:stretch>
              <a:fillRect/>
            </a:stretch>
          </p:blipFill>
          <p:spPr bwMode="auto">
            <a:xfrm rot="5400000">
              <a:off x="5729863" y="3382106"/>
              <a:ext cx="2951738" cy="2171468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02EA6164-5DBA-C76D-5B22-C0F414ECA4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98" t="24652" r="29669" b="16899"/>
            <a:stretch>
              <a:fillRect/>
            </a:stretch>
          </p:blipFill>
          <p:spPr bwMode="auto">
            <a:xfrm rot="16200000">
              <a:off x="8143936" y="3191700"/>
              <a:ext cx="2947594" cy="254813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66815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1D8D-697A-4911-E0DE-602A9EDA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rafik 83">
            <a:extLst>
              <a:ext uri="{FF2B5EF4-FFF2-40B4-BE49-F238E27FC236}">
                <a16:creationId xmlns:a16="http://schemas.microsoft.com/office/drawing/2014/main" id="{F484E133-0E4D-89C4-9527-82C123660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738" y="1530805"/>
            <a:ext cx="3702722" cy="465656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FCEA69A-ABC9-14FC-63A9-F53FEBA7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Experimental Prototype - Measurements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6A5815-7C41-C898-CFB6-10E94464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12</a:t>
            </a:fld>
            <a:endParaRPr lang="ja-JP" altLang="en-US" dirty="0"/>
          </a:p>
        </p:txBody>
      </p:sp>
      <p:pic>
        <p:nvPicPr>
          <p:cNvPr id="86" name="Grafik 85">
            <a:extLst>
              <a:ext uri="{FF2B5EF4-FFF2-40B4-BE49-F238E27FC236}">
                <a16:creationId xmlns:a16="http://schemas.microsoft.com/office/drawing/2014/main" id="{28509592-2949-EEEA-EB00-F74F2E311E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87"/>
          <a:stretch>
            <a:fillRect/>
          </a:stretch>
        </p:blipFill>
        <p:spPr>
          <a:xfrm>
            <a:off x="2815751" y="3134918"/>
            <a:ext cx="5435598" cy="362307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1AAA06-E57C-C4B9-0828-5D7A92A7A0CF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7318214" cy="22567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Power density: 80 kW/L (1300 W/in³)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Boxed volume: 12.4 cm³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Maximum efficiency: 96.3% at 550 W.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Soft-switching at all loads with variable frequency</a:t>
            </a:r>
          </a:p>
          <a:p>
            <a:endParaRPr lang="de-DE" sz="2400" dirty="0"/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231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5162-69FB-BFAA-C7A2-C5FA8B13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E037FF-B522-F344-763F-6074BEE05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Experimental Prototype - Measurements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D64627-CE42-F7C5-70D3-E6D92ABA5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13</a:t>
            </a:fld>
            <a:endParaRPr lang="ja-JP" altLang="en-US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7834EEF8-6B40-F513-D0B0-5ECB0411E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887170"/>
              </p:ext>
            </p:extLst>
          </p:nvPr>
        </p:nvGraphicFramePr>
        <p:xfrm>
          <a:off x="5156872" y="3184384"/>
          <a:ext cx="6743124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608419522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1531882187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789211319"/>
                    </a:ext>
                  </a:extLst>
                </a:gridCol>
                <a:gridCol w="1307524">
                  <a:extLst>
                    <a:ext uri="{9D8B030D-6E8A-4147-A177-3AD203B41FA5}">
                      <a16:colId xmlns:a16="http://schemas.microsoft.com/office/drawing/2014/main" val="1504182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Power-Density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893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Proposed</a:t>
                      </a:r>
                      <a:r>
                        <a:rPr lang="de-DE" dirty="0"/>
                        <a:t>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1.0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80 kW/L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96.3 %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998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Cai et al.</a:t>
                      </a:r>
                      <a:r>
                        <a:rPr lang="de-DE" baseline="30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1.0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38 kW/L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96.0 %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411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Ahmed et al.</a:t>
                      </a:r>
                      <a:r>
                        <a:rPr lang="de-DE" baseline="30000" dirty="0"/>
                        <a:t>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1.0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42 kW/L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97.8 %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777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Flexpower</a:t>
                      </a:r>
                      <a:r>
                        <a:rPr lang="de-DE" baseline="30000" dirty="0"/>
                        <a:t>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1.3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52 kW/L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97.0 %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727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EPC</a:t>
                      </a:r>
                      <a:r>
                        <a:rPr lang="de-DE" baseline="30000" dirty="0"/>
                        <a:t>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1.2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90 kW/L </a:t>
                      </a:r>
                      <a:br>
                        <a:rPr lang="de-DE" dirty="0"/>
                      </a:br>
                      <a:r>
                        <a:rPr lang="de-DE" dirty="0"/>
                        <a:t>(</a:t>
                      </a:r>
                      <a:r>
                        <a:rPr lang="de-DE" dirty="0" err="1"/>
                        <a:t>requires</a:t>
                      </a:r>
                      <a:r>
                        <a:rPr lang="de-DE" dirty="0"/>
                        <a:t> ext.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97.3 %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311044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028DE52B-C24D-6BEE-B3CF-8DE9FFA86C50}"/>
              </a:ext>
            </a:extLst>
          </p:cNvPr>
          <p:cNvSpPr txBox="1"/>
          <p:nvPr/>
        </p:nvSpPr>
        <p:spPr>
          <a:xfrm>
            <a:off x="2339734" y="5903725"/>
            <a:ext cx="909661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/>
              <a:t>[1] Y. Cai, M. H. Ahmed, Q. Li, and F. C. Lee, “Optimal Design </a:t>
            </a:r>
            <a:r>
              <a:rPr lang="de-DE" sz="1050" dirty="0" err="1"/>
              <a:t>of</a:t>
            </a:r>
            <a:r>
              <a:rPr lang="de-DE" sz="1050" dirty="0"/>
              <a:t> Megahertz LLC Converter </a:t>
            </a:r>
            <a:r>
              <a:rPr lang="de-DE" sz="1050" dirty="0" err="1"/>
              <a:t>for</a:t>
            </a:r>
            <a:r>
              <a:rPr lang="de-DE" sz="1050" dirty="0"/>
              <a:t> 48-V Bus Converter </a:t>
            </a:r>
            <a:r>
              <a:rPr lang="de-DE" sz="1050" dirty="0" err="1"/>
              <a:t>Application</a:t>
            </a:r>
            <a:r>
              <a:rPr lang="de-DE" sz="1050" dirty="0"/>
              <a:t>” Mar. 2020</a:t>
            </a:r>
          </a:p>
          <a:p>
            <a:r>
              <a:rPr lang="de-DE" sz="1050" dirty="0"/>
              <a:t>[2] M. H. Ahmed, A. Nabih, F. C. Lee, and Q. Li, “Low-Loss Integrated </a:t>
            </a:r>
            <a:r>
              <a:rPr lang="de-DE" sz="1050" dirty="0" err="1"/>
              <a:t>Inductor</a:t>
            </a:r>
            <a:r>
              <a:rPr lang="de-DE" sz="1050" dirty="0"/>
              <a:t> and Transformer </a:t>
            </a:r>
            <a:r>
              <a:rPr lang="de-DE" sz="1050" dirty="0" err="1"/>
              <a:t>Structure</a:t>
            </a:r>
            <a:r>
              <a:rPr lang="de-DE" sz="1050" dirty="0"/>
              <a:t> and </a:t>
            </a:r>
            <a:r>
              <a:rPr lang="de-DE" sz="1050" dirty="0" err="1"/>
              <a:t>Application</a:t>
            </a:r>
            <a:r>
              <a:rPr lang="de-DE" sz="1050" dirty="0"/>
              <a:t> in </a:t>
            </a:r>
            <a:r>
              <a:rPr lang="de-DE" sz="1050" dirty="0" err="1"/>
              <a:t>Regulated</a:t>
            </a:r>
            <a:r>
              <a:rPr lang="de-DE" sz="1050" dirty="0"/>
              <a:t> LLC Converter </a:t>
            </a:r>
            <a:br>
              <a:rPr lang="de-DE" sz="1050" dirty="0"/>
            </a:br>
            <a:r>
              <a:rPr lang="de-DE" sz="1050" dirty="0"/>
              <a:t>     </a:t>
            </a:r>
            <a:r>
              <a:rPr lang="de-DE" sz="1050" dirty="0" err="1"/>
              <a:t>for</a:t>
            </a:r>
            <a:r>
              <a:rPr lang="de-DE" sz="1050" dirty="0"/>
              <a:t> 48-V Bus Converter” Mar. 2020</a:t>
            </a:r>
          </a:p>
          <a:p>
            <a:r>
              <a:rPr lang="de-DE" sz="1050" dirty="0"/>
              <a:t>[3] </a:t>
            </a:r>
            <a:r>
              <a:rPr lang="en-US" sz="1050" dirty="0" err="1"/>
              <a:t>FlexPower</a:t>
            </a:r>
            <a:r>
              <a:rPr lang="en-US" sz="1050" dirty="0"/>
              <a:t>, “BMR480 series DC-DC Converters Input 45-60 V, Output up to 108.3 A / 1300 W” Mar. 2019. </a:t>
            </a:r>
          </a:p>
          <a:p>
            <a:r>
              <a:rPr lang="de-DE" sz="1050" dirty="0"/>
              <a:t>[4]</a:t>
            </a:r>
            <a:r>
              <a:rPr lang="en-US" sz="1050" dirty="0"/>
              <a:t> EPC “EPC9174 – 40 – 60 VIN, 10 – 15 V, 100 A Output 1.2 kW 1/8th Brick Reference Design Board” 2022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D835EF-C29C-FB62-27AA-B6FC0F5108E3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7318214" cy="51066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Power density: 80 kW/L (1300 W/in³)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Boxed volume: 12.4 cm³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Maximum efficiency: 96.3% at 550 W.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Soft-switching at all loads with variable frequency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Similar power-density</a:t>
            </a:r>
            <a:br>
              <a:rPr lang="en-US" sz="2400" dirty="0"/>
            </a:br>
            <a:r>
              <a:rPr lang="en-US" sz="2400" dirty="0"/>
              <a:t>and efficiency to LLC</a:t>
            </a:r>
          </a:p>
          <a:p>
            <a:pPr marL="740700" lvl="1" indent="-3429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Promising option for real-world </a:t>
            </a:r>
            <a:br>
              <a:rPr lang="en-US" sz="2000" dirty="0"/>
            </a:br>
            <a:r>
              <a:rPr lang="en-US" sz="2000" dirty="0"/>
              <a:t>applications</a:t>
            </a:r>
          </a:p>
          <a:p>
            <a:endParaRPr lang="de-DE" sz="2400" dirty="0"/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1544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2878-C9B5-40E1-BC89-9FF31ED6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7E337F-516A-0F0D-79BD-F6DE2205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Conclusion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214287-B05A-1CEB-0DF4-2A8BE755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14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7B9A691-ADD6-A6E7-CA04-B0B9420595F6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10330654" cy="49999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Transformer model provides intuitive understanding of 2-phase coupled inductors</a:t>
            </a:r>
          </a:p>
          <a:p>
            <a:r>
              <a:rPr lang="en-US" sz="2600" dirty="0"/>
              <a:t>Coupled inductor with four-pole structure allows compact core</a:t>
            </a:r>
          </a:p>
          <a:p>
            <a:r>
              <a:rPr lang="en-US" sz="2600" dirty="0"/>
              <a:t>Dual air gaps and stepped conductor widths improve current distribution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 30% reduction in copper loss</a:t>
            </a:r>
          </a:p>
          <a:p>
            <a:r>
              <a:rPr lang="en-US" sz="2600" dirty="0"/>
              <a:t>Experimental prototype: 80 kW/L (1300 W/in³) at 1 kW output and 96.3% peak efficiency</a:t>
            </a:r>
          </a:p>
          <a:p>
            <a:r>
              <a:rPr lang="en-US" sz="2600" dirty="0"/>
              <a:t>Current Research: Calorimetric core loss characterization and core optimization</a:t>
            </a:r>
          </a:p>
        </p:txBody>
      </p:sp>
    </p:spTree>
    <p:extLst>
      <p:ext uri="{BB962C8B-B14F-4D97-AF65-F5344CB8AC3E}">
        <p14:creationId xmlns:p14="http://schemas.microsoft.com/office/powerpoint/2010/main" val="1708139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77A40F4-CF34-123B-201B-0D94299A14A1}"/>
              </a:ext>
            </a:extLst>
          </p:cNvPr>
          <p:cNvSpPr/>
          <p:nvPr/>
        </p:nvSpPr>
        <p:spPr>
          <a:xfrm>
            <a:off x="391160" y="3165315"/>
            <a:ext cx="2536190" cy="45719"/>
          </a:xfrm>
          <a:prstGeom prst="rect">
            <a:avLst/>
          </a:prstGeom>
          <a:solidFill>
            <a:srgbClr val="018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6A4124-215A-1CDC-F158-6DB6A64706D9}"/>
              </a:ext>
            </a:extLst>
          </p:cNvPr>
          <p:cNvSpPr txBox="1"/>
          <p:nvPr/>
        </p:nvSpPr>
        <p:spPr>
          <a:xfrm>
            <a:off x="391160" y="2642095"/>
            <a:ext cx="284480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ja-JP" sz="2800" b="1" dirty="0">
                <a:solidFill>
                  <a:srgbClr val="B4016D"/>
                </a:solidFill>
              </a:rPr>
              <a:t>CONTACT US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776E92-6E03-7474-9A03-49CC08DE5CE9}"/>
              </a:ext>
            </a:extLst>
          </p:cNvPr>
          <p:cNvSpPr txBox="1"/>
          <p:nvPr/>
        </p:nvSpPr>
        <p:spPr>
          <a:xfrm>
            <a:off x="391160" y="3429000"/>
            <a:ext cx="85305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Adrian Keil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1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, Gean Maia de Sousa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2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, Vincent Lorentz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3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, Thomas Heckel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1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, 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152400">
                    <a:schemeClr val="bg1">
                      <a:alpha val="90000"/>
                    </a:schemeClr>
                  </a:glow>
                </a:effectLst>
              </a:rPr>
              <a:t>Marcelo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 Lobo Heldwein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2</a:t>
            </a:r>
            <a:endParaRPr lang="en-US" altLang="ja-JP" sz="2800" dirty="0">
              <a:solidFill>
                <a:srgbClr val="2B2F6B"/>
              </a:solidFill>
              <a:effectLst>
                <a:glow rad="317500">
                  <a:schemeClr val="bg1">
                    <a:alpha val="79000"/>
                  </a:schemeClr>
                </a:glow>
              </a:effectLst>
            </a:endParaRPr>
          </a:p>
          <a:p>
            <a:endParaRPr kumimoji="1" lang="ja-JP" altLang="en-US" sz="2800" dirty="0">
              <a:solidFill>
                <a:srgbClr val="2B2F6B"/>
              </a:solidFill>
              <a:effectLst>
                <a:glow rad="317500">
                  <a:schemeClr val="bg1">
                    <a:alpha val="79000"/>
                  </a:schemeClr>
                </a:glow>
              </a:effectLst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CACBD1-53E5-5540-6B0A-635BB6B0A0FF}"/>
              </a:ext>
            </a:extLst>
          </p:cNvPr>
          <p:cNvSpPr txBox="1"/>
          <p:nvPr/>
        </p:nvSpPr>
        <p:spPr>
          <a:xfrm>
            <a:off x="1489520" y="243668"/>
            <a:ext cx="3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ja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May 31 - June 4, 2026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B1840B6-F196-C7BF-6F90-3785E9A6A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4710" y="4399279"/>
            <a:ext cx="2294890" cy="2294890"/>
          </a:xfrm>
          <a:prstGeom prst="rect">
            <a:avLst/>
          </a:prstGeom>
        </p:spPr>
      </p:pic>
      <p:sp>
        <p:nvSpPr>
          <p:cNvPr id="8" name="テキスト ボックス 5">
            <a:extLst>
              <a:ext uri="{FF2B5EF4-FFF2-40B4-BE49-F238E27FC236}">
                <a16:creationId xmlns:a16="http://schemas.microsoft.com/office/drawing/2014/main" id="{54AF5FFE-01DB-51D3-B9EA-60BEB19DA587}"/>
              </a:ext>
            </a:extLst>
          </p:cNvPr>
          <p:cNvSpPr txBox="1"/>
          <p:nvPr/>
        </p:nvSpPr>
        <p:spPr>
          <a:xfrm>
            <a:off x="391160" y="4502872"/>
            <a:ext cx="1104565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ja-JP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1 </a:t>
            </a:r>
            <a: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Fraunhofer Institute for Integrated Systems and Device Technology IISB,</a:t>
            </a:r>
            <a:b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</a:br>
            <a:r>
              <a:rPr lang="en-US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2 </a:t>
            </a:r>
            <a:r>
              <a:rPr lang="en-US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Chair of High-Power Converter Systems, Technical University of Munich</a:t>
            </a:r>
            <a:endParaRPr lang="en-US" altLang="ja-JP" dirty="0">
              <a:solidFill>
                <a:srgbClr val="2B2F6B"/>
              </a:solidFill>
              <a:effectLst>
                <a:glow rad="152400">
                  <a:srgbClr val="F7F2F6">
                    <a:alpha val="90000"/>
                  </a:srgbClr>
                </a:glow>
              </a:effectLst>
            </a:endParaRPr>
          </a:p>
          <a:p>
            <a:r>
              <a:rPr lang="en-US" altLang="ja-JP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3 </a:t>
            </a:r>
            <a: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Chair of Electronics for Electrical Energy Storage, University of Bayreuth</a:t>
            </a:r>
          </a:p>
        </p:txBody>
      </p:sp>
    </p:spTree>
    <p:extLst>
      <p:ext uri="{BB962C8B-B14F-4D97-AF65-F5344CB8AC3E}">
        <p14:creationId xmlns:p14="http://schemas.microsoft.com/office/powerpoint/2010/main" val="2186840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D4526D-715C-0351-B1ED-FF70B276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Current Sensing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DAA269-379F-854F-F436-369D39D4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16</a:t>
            </a:fld>
            <a:endParaRPr lang="ja-JP" altLang="en-US" dirty="0"/>
          </a:p>
        </p:txBody>
      </p:sp>
      <p:pic>
        <p:nvPicPr>
          <p:cNvPr id="4" name="Grafik 3" descr="Ein Bild, das Elektronik, Schaltung, Elektronisches Bauteil, Elektrisches Bauelement enthält.&#10;&#10;KI-generierte Inhalte können fehlerhaft sein.">
            <a:extLst>
              <a:ext uri="{FF2B5EF4-FFF2-40B4-BE49-F238E27FC236}">
                <a16:creationId xmlns:a16="http://schemas.microsoft.com/office/drawing/2014/main" id="{D1490E3B-EA13-385E-7746-17B026609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08" t="11852" r="15436"/>
          <a:stretch/>
        </p:blipFill>
        <p:spPr>
          <a:xfrm>
            <a:off x="574303" y="2363147"/>
            <a:ext cx="3172049" cy="285039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5EA828A-4CCA-1237-4710-197AA721B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331" y="2390477"/>
            <a:ext cx="4346731" cy="257175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6135E46-E785-2285-DE36-23D6BC335097}"/>
              </a:ext>
            </a:extLst>
          </p:cNvPr>
          <p:cNvSpPr/>
          <p:nvPr/>
        </p:nvSpPr>
        <p:spPr>
          <a:xfrm>
            <a:off x="8569376" y="4155869"/>
            <a:ext cx="272143" cy="397328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endParaRPr lang="en-US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FEBDC52-AA96-16EF-9AAC-35E9C55904EA}"/>
              </a:ext>
            </a:extLst>
          </p:cNvPr>
          <p:cNvSpPr/>
          <p:nvPr/>
        </p:nvSpPr>
        <p:spPr>
          <a:xfrm>
            <a:off x="8569375" y="3363933"/>
            <a:ext cx="272143" cy="397328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BC330E3-7E89-CD49-A7D9-989F69C8F0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10" r="12700" b="9834"/>
          <a:stretch/>
        </p:blipFill>
        <p:spPr>
          <a:xfrm>
            <a:off x="9219189" y="4222201"/>
            <a:ext cx="1126672" cy="1982682"/>
          </a:xfrm>
          <a:prstGeom prst="ellipse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A3B2494-379A-53EA-0A08-5FE6A659CF9B}"/>
              </a:ext>
            </a:extLst>
          </p:cNvPr>
          <p:cNvCxnSpPr>
            <a:cxnSpLocks/>
          </p:cNvCxnSpPr>
          <p:nvPr/>
        </p:nvCxnSpPr>
        <p:spPr>
          <a:xfrm flipH="1" flipV="1">
            <a:off x="8705446" y="4008597"/>
            <a:ext cx="673250" cy="416315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559B2C9-C865-6014-7E25-7C874752FFE6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10330654" cy="49999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First-Generation Board included TMR Current Sensors</a:t>
            </a:r>
          </a:p>
        </p:txBody>
      </p:sp>
      <p:pic>
        <p:nvPicPr>
          <p:cNvPr id="11" name="Grafik 10" descr="Ein Bild, das Elektronik, Schaltung, Elektronisches Bauteil, Elektrisches Bauelement enthält.&#10;&#10;KI-generierte Inhalte können fehlerhaft sein.">
            <a:extLst>
              <a:ext uri="{FF2B5EF4-FFF2-40B4-BE49-F238E27FC236}">
                <a16:creationId xmlns:a16="http://schemas.microsoft.com/office/drawing/2014/main" id="{BC6E1621-9713-D998-992D-4E70E38F58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039" r="12974" b="13307"/>
          <a:stretch/>
        </p:blipFill>
        <p:spPr>
          <a:xfrm>
            <a:off x="3909090" y="2336064"/>
            <a:ext cx="3152214" cy="285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56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B53D2-3257-E3FF-04ED-855D561B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A7153A-CCFF-C781-E71A-4E875707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Introduction – Modelling using the Transformer Model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E9EB4A-EFB6-720E-FCB9-F7AC5E0A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17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3F8F66C-FE48-90A5-378A-D6DC3E70B0B4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2940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Modelling the coupled inductor as an </a:t>
            </a:r>
            <a:r>
              <a:rPr lang="en-US" sz="2400" i="1" dirty="0"/>
              <a:t>ideal</a:t>
            </a:r>
            <a:r>
              <a:rPr lang="en-US" sz="2400" dirty="0"/>
              <a:t> transformer and two inductors</a:t>
            </a:r>
          </a:p>
          <a:p>
            <a:pPr lvl="1" indent="-288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Voltages across the two inductors become independent!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5C58548-2E27-CF23-4265-E6F68B330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504" y="2446416"/>
            <a:ext cx="2489377" cy="61576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F6091D6-3C5F-5F02-A9EE-21270FCC3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69" b="13105"/>
          <a:stretch>
            <a:fillRect/>
          </a:stretch>
        </p:blipFill>
        <p:spPr>
          <a:xfrm>
            <a:off x="4888733" y="1147791"/>
            <a:ext cx="1775903" cy="123811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C54DAC8-BAB2-18CD-727A-4565CA992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2" r="-900" b="13105"/>
          <a:stretch>
            <a:fillRect/>
          </a:stretch>
        </p:blipFill>
        <p:spPr>
          <a:xfrm>
            <a:off x="8403455" y="1111288"/>
            <a:ext cx="2386853" cy="123811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EDA6FE8-6506-7913-DE42-7D4A6AC09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628" y="2446416"/>
            <a:ext cx="4347575" cy="615760"/>
          </a:xfrm>
          <a:prstGeom prst="rect">
            <a:avLst/>
          </a:prstGeom>
        </p:spPr>
      </p:pic>
      <p:sp>
        <p:nvSpPr>
          <p:cNvPr id="22" name="Geschweifte Klammer rechts 21">
            <a:extLst>
              <a:ext uri="{FF2B5EF4-FFF2-40B4-BE49-F238E27FC236}">
                <a16:creationId xmlns:a16="http://schemas.microsoft.com/office/drawing/2014/main" id="{F56F1B44-C828-4F3C-C432-0940CCE375B3}"/>
              </a:ext>
            </a:extLst>
          </p:cNvPr>
          <p:cNvSpPr/>
          <p:nvPr/>
        </p:nvSpPr>
        <p:spPr>
          <a:xfrm rot="5400000">
            <a:off x="7916734" y="-441754"/>
            <a:ext cx="426766" cy="7628656"/>
          </a:xfrm>
          <a:prstGeom prst="rightBrace">
            <a:avLst>
              <a:gd name="adj1" fmla="val 5244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2AFAEBE3-8846-FA91-E024-B2A40134B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2" y="3896229"/>
            <a:ext cx="4397507" cy="172920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EFCBD8B-4397-C9FB-F1B2-8B5694E75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9982" y="3783825"/>
            <a:ext cx="4397507" cy="171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8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PEC2026">
      <a:majorFont>
        <a:latin typeface="Arial"/>
        <a:ea typeface="游ゴシック Light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d2721f-eecf-4e40-8c6d-8362eea2291f" xsi:nil="true"/>
    <lcf76f155ced4ddcb4097134ff3c332f xmlns="6c0a9c51-223e-40eb-be5b-a75f95f5efa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40AC5776D445D4AA0436B39D48A5D32" ma:contentTypeVersion="12" ma:contentTypeDescription="新しいドキュメントを作成します。" ma:contentTypeScope="" ma:versionID="6663799dbca32b369c6dca6c4d961f76">
  <xsd:schema xmlns:xsd="http://www.w3.org/2001/XMLSchema" xmlns:xs="http://www.w3.org/2001/XMLSchema" xmlns:p="http://schemas.microsoft.com/office/2006/metadata/properties" xmlns:ns2="6c0a9c51-223e-40eb-be5b-a75f95f5efa0" xmlns:ns3="98d2721f-eecf-4e40-8c6d-8362eea2291f" targetNamespace="http://schemas.microsoft.com/office/2006/metadata/properties" ma:root="true" ma:fieldsID="f042fade54ad518496d7cedc44997337" ns2:_="" ns3:_="">
    <xsd:import namespace="6c0a9c51-223e-40eb-be5b-a75f95f5efa0"/>
    <xsd:import namespace="98d2721f-eecf-4e40-8c6d-8362eea229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a9c51-223e-40eb-be5b-a75f95f5ef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3c3fff22-b943-49ca-97ed-32a132aa46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d2721f-eecf-4e40-8c6d-8362eea2291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d13a14-9a2e-4aa1-bdee-c6dec105810e}" ma:internalName="TaxCatchAll" ma:showField="CatchAllData" ma:web="98d2721f-eecf-4e40-8c6d-8362eea229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D0FFAF-C21B-4A62-86BA-4FF4CA45B7A1}">
  <ds:schemaRefs>
    <ds:schemaRef ds:uri="http://schemas.microsoft.com/office/2006/metadata/properties"/>
    <ds:schemaRef ds:uri="http://schemas.microsoft.com/office/infopath/2007/PartnerControls"/>
    <ds:schemaRef ds:uri="98d2721f-eecf-4e40-8c6d-8362eea2291f"/>
    <ds:schemaRef ds:uri="6c0a9c51-223e-40eb-be5b-a75f95f5efa0"/>
  </ds:schemaRefs>
</ds:datastoreItem>
</file>

<file path=customXml/itemProps2.xml><?xml version="1.0" encoding="utf-8"?>
<ds:datastoreItem xmlns:ds="http://schemas.openxmlformats.org/officeDocument/2006/customXml" ds:itemID="{50DA480F-844D-4315-AED5-78576D5FA2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0a9c51-223e-40eb-be5b-a75f95f5efa0"/>
    <ds:schemaRef ds:uri="98d2721f-eecf-4e40-8c6d-8362eea229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3685CB-1F4F-41D5-BF18-24A1358A69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1163</Words>
  <Application>Microsoft Office PowerPoint</Application>
  <PresentationFormat>Breitbild</PresentationFormat>
  <Paragraphs>189</Paragraphs>
  <Slides>17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游ゴシック</vt:lpstr>
      <vt:lpstr>Arial</vt:lpstr>
      <vt:lpstr>Times New Roman</vt:lpstr>
      <vt:lpstr>Wingdings</vt:lpstr>
      <vt:lpstr>Office テーマ</vt:lpstr>
      <vt:lpstr>Compact Single-Turn Coupled Inductor for MHz-Range Buck Converters with Zero-Voltage Switching</vt:lpstr>
      <vt:lpstr>Table of Contents</vt:lpstr>
      <vt:lpstr>Motivation</vt:lpstr>
      <vt:lpstr>Introduction – Working Principle</vt:lpstr>
      <vt:lpstr>Introduction – Effects of Coupling</vt:lpstr>
      <vt:lpstr>Introduction – Effects of Coupling</vt:lpstr>
      <vt:lpstr>Inductor Design – Potential Geometries</vt:lpstr>
      <vt:lpstr>Inductor Design – Comparison between Geometries</vt:lpstr>
      <vt:lpstr>Inductor Design – Flux Distribution</vt:lpstr>
      <vt:lpstr>Inductor Design – Air-Gap and Winding Optimization</vt:lpstr>
      <vt:lpstr>Experimental Prototype – Build</vt:lpstr>
      <vt:lpstr>Experimental Prototype - Measurements</vt:lpstr>
      <vt:lpstr>Experimental Prototype - Measurements</vt:lpstr>
      <vt:lpstr>Conclusion</vt:lpstr>
      <vt:lpstr>PowerPoint-Präsentation</vt:lpstr>
      <vt:lpstr>Current Sensing</vt:lpstr>
      <vt:lpstr>Introduction – Modelling using the Transformer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Ryosuke Ota</dc:creator>
  <cp:lastModifiedBy>Keil, Adrian</cp:lastModifiedBy>
  <cp:revision>64</cp:revision>
  <dcterms:created xsi:type="dcterms:W3CDTF">2026-04-15T16:01:17Z</dcterms:created>
  <dcterms:modified xsi:type="dcterms:W3CDTF">2026-06-09T05:27:17Z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0x010100440AC5776D445D4AA0436B39D48A5D32</vt:lpwstr>
  </property>
</Properties>
</file>